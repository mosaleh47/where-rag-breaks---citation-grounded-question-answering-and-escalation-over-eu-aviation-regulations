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C4E0E9-0AB7-A819-C3D8-D125C9CC882F}" name="Samir Adam MAHAMAT SALEH" initials="SM" userId="S::samiradam.mahamatsaleh@aivancity.education::a3ea6bc2-d57f-4b99-ab0b-a90273d5a3d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33FBCC-C4C1-4D81-9DF1-65B2CD3DD4CE}" v="3" dt="2026-07-31T08:16:08.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126" y="9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r Adam MAHAMAT SALEH" userId="a3ea6bc2-d57f-4b99-ab0b-a90273d5a3df" providerId="ADAL" clId="{7C116526-0156-424B-9BD4-1F4A8AFEDEF9}"/>
    <pc:docChg chg="custSel modSld">
      <pc:chgData name="Samir Adam MAHAMAT SALEH" userId="a3ea6bc2-d57f-4b99-ab0b-a90273d5a3df" providerId="ADAL" clId="{7C116526-0156-424B-9BD4-1F4A8AFEDEF9}" dt="2026-07-31T08:32:04.489" v="347" actId="20577"/>
      <pc:docMkLst>
        <pc:docMk/>
      </pc:docMkLst>
      <pc:sldChg chg="modSp mod">
        <pc:chgData name="Samir Adam MAHAMAT SALEH" userId="a3ea6bc2-d57f-4b99-ab0b-a90273d5a3df" providerId="ADAL" clId="{7C116526-0156-424B-9BD4-1F4A8AFEDEF9}" dt="2026-07-31T07:46:52.107" v="18" actId="20577"/>
        <pc:sldMkLst>
          <pc:docMk/>
          <pc:sldMk cId="0" sldId="256"/>
        </pc:sldMkLst>
        <pc:spChg chg="mod">
          <ac:chgData name="Samir Adam MAHAMAT SALEH" userId="a3ea6bc2-d57f-4b99-ab0b-a90273d5a3df" providerId="ADAL" clId="{7C116526-0156-424B-9BD4-1F4A8AFEDEF9}" dt="2026-07-31T07:46:52.107" v="18" actId="20577"/>
          <ac:spMkLst>
            <pc:docMk/>
            <pc:sldMk cId="0" sldId="256"/>
            <ac:spMk id="7" creationId="{00000000-0000-0000-0000-000000000000}"/>
          </ac:spMkLst>
        </pc:spChg>
      </pc:sldChg>
      <pc:sldChg chg="modNotesTx">
        <pc:chgData name="Samir Adam MAHAMAT SALEH" userId="a3ea6bc2-d57f-4b99-ab0b-a90273d5a3df" providerId="ADAL" clId="{7C116526-0156-424B-9BD4-1F4A8AFEDEF9}" dt="2026-07-31T08:08:55.076" v="119" actId="20577"/>
        <pc:sldMkLst>
          <pc:docMk/>
          <pc:sldMk cId="0" sldId="259"/>
        </pc:sldMkLst>
      </pc:sldChg>
      <pc:sldChg chg="addSp modSp mod">
        <pc:chgData name="Samir Adam MAHAMAT SALEH" userId="a3ea6bc2-d57f-4b99-ab0b-a90273d5a3df" providerId="ADAL" clId="{7C116526-0156-424B-9BD4-1F4A8AFEDEF9}" dt="2026-07-31T08:17:17.500" v="337" actId="20577"/>
        <pc:sldMkLst>
          <pc:docMk/>
          <pc:sldMk cId="0" sldId="261"/>
        </pc:sldMkLst>
        <pc:spChg chg="add mod">
          <ac:chgData name="Samir Adam MAHAMAT SALEH" userId="a3ea6bc2-d57f-4b99-ab0b-a90273d5a3df" providerId="ADAL" clId="{7C116526-0156-424B-9BD4-1F4A8AFEDEF9}" dt="2026-07-31T08:14:36.739" v="203" actId="14100"/>
          <ac:spMkLst>
            <pc:docMk/>
            <pc:sldMk cId="0" sldId="261"/>
            <ac:spMk id="15" creationId="{A439FEEA-45BD-C5D8-9904-64223A2CE75A}"/>
          </ac:spMkLst>
        </pc:spChg>
        <pc:spChg chg="add mod">
          <ac:chgData name="Samir Adam MAHAMAT SALEH" userId="a3ea6bc2-d57f-4b99-ab0b-a90273d5a3df" providerId="ADAL" clId="{7C116526-0156-424B-9BD4-1F4A8AFEDEF9}" dt="2026-07-31T08:15:26.857" v="265" actId="20577"/>
          <ac:spMkLst>
            <pc:docMk/>
            <pc:sldMk cId="0" sldId="261"/>
            <ac:spMk id="16" creationId="{9CA67F3C-B909-4C37-CF89-E25E62612EA9}"/>
          </ac:spMkLst>
        </pc:spChg>
        <pc:spChg chg="add mod">
          <ac:chgData name="Samir Adam MAHAMAT SALEH" userId="a3ea6bc2-d57f-4b99-ab0b-a90273d5a3df" providerId="ADAL" clId="{7C116526-0156-424B-9BD4-1F4A8AFEDEF9}" dt="2026-07-31T08:17:17.500" v="337" actId="20577"/>
          <ac:spMkLst>
            <pc:docMk/>
            <pc:sldMk cId="0" sldId="261"/>
            <ac:spMk id="17" creationId="{AE20C8CE-C215-5DC6-7589-F60CD7782FDF}"/>
          </ac:spMkLst>
        </pc:spChg>
      </pc:sldChg>
      <pc:sldChg chg="delSp modSp mod">
        <pc:chgData name="Samir Adam MAHAMAT SALEH" userId="a3ea6bc2-d57f-4b99-ab0b-a90273d5a3df" providerId="ADAL" clId="{7C116526-0156-424B-9BD4-1F4A8AFEDEF9}" dt="2026-07-31T08:30:59.152" v="341" actId="20577"/>
        <pc:sldMkLst>
          <pc:docMk/>
          <pc:sldMk cId="0" sldId="267"/>
        </pc:sldMkLst>
        <pc:spChg chg="mod">
          <ac:chgData name="Samir Adam MAHAMAT SALEH" userId="a3ea6bc2-d57f-4b99-ab0b-a90273d5a3df" providerId="ADAL" clId="{7C116526-0156-424B-9BD4-1F4A8AFEDEF9}" dt="2026-07-31T08:30:54.917" v="339" actId="20577"/>
          <ac:spMkLst>
            <pc:docMk/>
            <pc:sldMk cId="0" sldId="267"/>
            <ac:spMk id="3" creationId="{00000000-0000-0000-0000-000000000000}"/>
          </ac:spMkLst>
        </pc:spChg>
        <pc:spChg chg="mod">
          <ac:chgData name="Samir Adam MAHAMAT SALEH" userId="a3ea6bc2-d57f-4b99-ab0b-a90273d5a3df" providerId="ADAL" clId="{7C116526-0156-424B-9BD4-1F4A8AFEDEF9}" dt="2026-07-30T23:33:38.336" v="2" actId="20577"/>
          <ac:spMkLst>
            <pc:docMk/>
            <pc:sldMk cId="0" sldId="267"/>
            <ac:spMk id="11" creationId="{00000000-0000-0000-0000-000000000000}"/>
          </ac:spMkLst>
        </pc:spChg>
        <pc:spChg chg="mod">
          <ac:chgData name="Samir Adam MAHAMAT SALEH" userId="a3ea6bc2-d57f-4b99-ab0b-a90273d5a3df" providerId="ADAL" clId="{7C116526-0156-424B-9BD4-1F4A8AFEDEF9}" dt="2026-07-31T08:30:59.152" v="341" actId="20577"/>
          <ac:spMkLst>
            <pc:docMk/>
            <pc:sldMk cId="0" sldId="267"/>
            <ac:spMk id="27" creationId="{00000000-0000-0000-0000-000000000000}"/>
          </ac:spMkLst>
        </pc:spChg>
        <pc:spChg chg="del">
          <ac:chgData name="Samir Adam MAHAMAT SALEH" userId="a3ea6bc2-d57f-4b99-ab0b-a90273d5a3df" providerId="ADAL" clId="{7C116526-0156-424B-9BD4-1F4A8AFEDEF9}" dt="2026-07-30T23:33:29.104" v="0" actId="478"/>
          <ac:spMkLst>
            <pc:docMk/>
            <pc:sldMk cId="0" sldId="267"/>
            <ac:spMk id="31" creationId="{00000000-0000-0000-0000-000000000000}"/>
          </ac:spMkLst>
        </pc:spChg>
      </pc:sldChg>
      <pc:sldChg chg="delSp modSp mod">
        <pc:chgData name="Samir Adam MAHAMAT SALEH" userId="a3ea6bc2-d57f-4b99-ab0b-a90273d5a3df" providerId="ADAL" clId="{7C116526-0156-424B-9BD4-1F4A8AFEDEF9}" dt="2026-07-31T08:32:04.489" v="347" actId="20577"/>
        <pc:sldMkLst>
          <pc:docMk/>
          <pc:sldMk cId="0" sldId="268"/>
        </pc:sldMkLst>
        <pc:spChg chg="del">
          <ac:chgData name="Samir Adam MAHAMAT SALEH" userId="a3ea6bc2-d57f-4b99-ab0b-a90273d5a3df" providerId="ADAL" clId="{7C116526-0156-424B-9BD4-1F4A8AFEDEF9}" dt="2026-07-30T23:33:55.108" v="3" actId="478"/>
          <ac:spMkLst>
            <pc:docMk/>
            <pc:sldMk cId="0" sldId="268"/>
            <ac:spMk id="12" creationId="{00000000-0000-0000-0000-000000000000}"/>
          </ac:spMkLst>
        </pc:spChg>
        <pc:spChg chg="del">
          <ac:chgData name="Samir Adam MAHAMAT SALEH" userId="a3ea6bc2-d57f-4b99-ab0b-a90273d5a3df" providerId="ADAL" clId="{7C116526-0156-424B-9BD4-1F4A8AFEDEF9}" dt="2026-07-30T23:33:55.108" v="3" actId="478"/>
          <ac:spMkLst>
            <pc:docMk/>
            <pc:sldMk cId="0" sldId="268"/>
            <ac:spMk id="13" creationId="{00000000-0000-0000-0000-000000000000}"/>
          </ac:spMkLst>
        </pc:spChg>
        <pc:spChg chg="mod">
          <ac:chgData name="Samir Adam MAHAMAT SALEH" userId="a3ea6bc2-d57f-4b99-ab0b-a90273d5a3df" providerId="ADAL" clId="{7C116526-0156-424B-9BD4-1F4A8AFEDEF9}" dt="2026-07-30T23:34:11.926" v="6" actId="1076"/>
          <ac:spMkLst>
            <pc:docMk/>
            <pc:sldMk cId="0" sldId="268"/>
            <ac:spMk id="16" creationId="{00000000-0000-0000-0000-000000000000}"/>
          </ac:spMkLst>
        </pc:spChg>
        <pc:spChg chg="mod">
          <ac:chgData name="Samir Adam MAHAMAT SALEH" userId="a3ea6bc2-d57f-4b99-ab0b-a90273d5a3df" providerId="ADAL" clId="{7C116526-0156-424B-9BD4-1F4A8AFEDEF9}" dt="2026-07-30T23:34:11.926" v="6" actId="1076"/>
          <ac:spMkLst>
            <pc:docMk/>
            <pc:sldMk cId="0" sldId="268"/>
            <ac:spMk id="17" creationId="{00000000-0000-0000-0000-000000000000}"/>
          </ac:spMkLst>
        </pc:spChg>
        <pc:spChg chg="del">
          <ac:chgData name="Samir Adam MAHAMAT SALEH" userId="a3ea6bc2-d57f-4b99-ab0b-a90273d5a3df" providerId="ADAL" clId="{7C116526-0156-424B-9BD4-1F4A8AFEDEF9}" dt="2026-07-30T23:34:45.996" v="9" actId="478"/>
          <ac:spMkLst>
            <pc:docMk/>
            <pc:sldMk cId="0" sldId="268"/>
            <ac:spMk id="18" creationId="{00000000-0000-0000-0000-000000000000}"/>
          </ac:spMkLst>
        </pc:spChg>
        <pc:spChg chg="del">
          <ac:chgData name="Samir Adam MAHAMAT SALEH" userId="a3ea6bc2-d57f-4b99-ab0b-a90273d5a3df" providerId="ADAL" clId="{7C116526-0156-424B-9BD4-1F4A8AFEDEF9}" dt="2026-07-30T23:34:45.996" v="9" actId="478"/>
          <ac:spMkLst>
            <pc:docMk/>
            <pc:sldMk cId="0" sldId="268"/>
            <ac:spMk id="19" creationId="{00000000-0000-0000-0000-000000000000}"/>
          </ac:spMkLst>
        </pc:spChg>
        <pc:spChg chg="mod">
          <ac:chgData name="Samir Adam MAHAMAT SALEH" userId="a3ea6bc2-d57f-4b99-ab0b-a90273d5a3df" providerId="ADAL" clId="{7C116526-0156-424B-9BD4-1F4A8AFEDEF9}" dt="2026-07-30T23:34:42.740" v="8" actId="1076"/>
          <ac:spMkLst>
            <pc:docMk/>
            <pc:sldMk cId="0" sldId="268"/>
            <ac:spMk id="20" creationId="{00000000-0000-0000-0000-000000000000}"/>
          </ac:spMkLst>
        </pc:spChg>
        <pc:spChg chg="mod">
          <ac:chgData name="Samir Adam MAHAMAT SALEH" userId="a3ea6bc2-d57f-4b99-ab0b-a90273d5a3df" providerId="ADAL" clId="{7C116526-0156-424B-9BD4-1F4A8AFEDEF9}" dt="2026-07-31T08:32:04.489" v="347" actId="20577"/>
          <ac:spMkLst>
            <pc:docMk/>
            <pc:sldMk cId="0" sldId="268"/>
            <ac:spMk id="21" creationId="{00000000-0000-0000-0000-000000000000}"/>
          </ac:spMkLst>
        </pc:spChg>
        <pc:spChg chg="mod">
          <ac:chgData name="Samir Adam MAHAMAT SALEH" userId="a3ea6bc2-d57f-4b99-ab0b-a90273d5a3df" providerId="ADAL" clId="{7C116526-0156-424B-9BD4-1F4A8AFEDEF9}" dt="2026-07-30T23:34:58.468" v="11" actId="1076"/>
          <ac:spMkLst>
            <pc:docMk/>
            <pc:sldMk cId="0" sldId="268"/>
            <ac:spMk id="22" creationId="{00000000-0000-0000-0000-000000000000}"/>
          </ac:spMkLst>
        </pc:spChg>
      </pc:sldChg>
      <pc:sldChg chg="delSp mod">
        <pc:chgData name="Samir Adam MAHAMAT SALEH" userId="a3ea6bc2-d57f-4b99-ab0b-a90273d5a3df" providerId="ADAL" clId="{7C116526-0156-424B-9BD4-1F4A8AFEDEF9}" dt="2026-07-31T08:00:28.886" v="19" actId="478"/>
        <pc:sldMkLst>
          <pc:docMk/>
          <pc:sldMk cId="0" sldId="269"/>
        </pc:sldMkLst>
        <pc:spChg chg="del">
          <ac:chgData name="Samir Adam MAHAMAT SALEH" userId="a3ea6bc2-d57f-4b99-ab0b-a90273d5a3df" providerId="ADAL" clId="{7C116526-0156-424B-9BD4-1F4A8AFEDEF9}" dt="2026-07-31T08:00:28.886" v="19" actId="478"/>
          <ac:spMkLst>
            <pc:docMk/>
            <pc:sldMk cId="0" sldId="269"/>
            <ac:spMk id="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BM25 (lexical)</c:v>
                </c:pt>
              </c:strCache>
            </c:strRef>
          </c:tx>
          <c:spPr>
            <a:solidFill>
              <a:srgbClr val="9AA7BF"/>
            </a:solidFill>
            <a:effectLst/>
          </c:spPr>
          <c:invertIfNegative val="0"/>
          <c:cat>
            <c:strRef>
              <c:f>Sheet1!$A$2:$A$6</c:f>
              <c:strCache>
                <c:ptCount val="5"/>
                <c:pt idx="0">
                  <c:v>k = 1</c:v>
                </c:pt>
                <c:pt idx="1">
                  <c:v>k = 3</c:v>
                </c:pt>
                <c:pt idx="2">
                  <c:v>k = 5</c:v>
                </c:pt>
                <c:pt idx="3">
                  <c:v>k = 10</c:v>
                </c:pt>
                <c:pt idx="4">
                  <c:v>k = 20</c:v>
                </c:pt>
              </c:strCache>
            </c:strRef>
          </c:cat>
          <c:val>
            <c:numRef>
              <c:f>Sheet1!$B$2:$B$6</c:f>
              <c:numCache>
                <c:formatCode>General</c:formatCode>
                <c:ptCount val="5"/>
                <c:pt idx="0">
                  <c:v>50.9</c:v>
                </c:pt>
                <c:pt idx="1">
                  <c:v>68.400000000000006</c:v>
                </c:pt>
                <c:pt idx="2">
                  <c:v>73.7</c:v>
                </c:pt>
                <c:pt idx="3">
                  <c:v>84.2</c:v>
                </c:pt>
                <c:pt idx="4">
                  <c:v>84.2</c:v>
                </c:pt>
              </c:numCache>
            </c:numRef>
          </c:val>
          <c:extLst>
            <c:ext xmlns:c16="http://schemas.microsoft.com/office/drawing/2014/chart" uri="{C3380CC4-5D6E-409C-BE32-E72D297353CC}">
              <c16:uniqueId val="{00000000-9756-4A60-BD79-BA082DA7DB69}"/>
            </c:ext>
          </c:extLst>
        </c:ser>
        <c:ser>
          <c:idx val="1"/>
          <c:order val="1"/>
          <c:tx>
            <c:strRef>
              <c:f>Sheet1!$C$1</c:f>
              <c:strCache>
                <c:ptCount val="1"/>
                <c:pt idx="0">
                  <c:v>Dense (3-large)</c:v>
                </c:pt>
              </c:strCache>
            </c:strRef>
          </c:tx>
          <c:spPr>
            <a:solidFill>
              <a:srgbClr val="C9B36A"/>
            </a:solidFill>
            <a:effectLst/>
          </c:spPr>
          <c:invertIfNegative val="0"/>
          <c:cat>
            <c:strRef>
              <c:f>Sheet1!$A$2:$A$6</c:f>
              <c:strCache>
                <c:ptCount val="5"/>
                <c:pt idx="0">
                  <c:v>k = 1</c:v>
                </c:pt>
                <c:pt idx="1">
                  <c:v>k = 3</c:v>
                </c:pt>
                <c:pt idx="2">
                  <c:v>k = 5</c:v>
                </c:pt>
                <c:pt idx="3">
                  <c:v>k = 10</c:v>
                </c:pt>
                <c:pt idx="4">
                  <c:v>k = 20</c:v>
                </c:pt>
              </c:strCache>
            </c:strRef>
          </c:cat>
          <c:val>
            <c:numRef>
              <c:f>Sheet1!$C$2:$C$6</c:f>
              <c:numCache>
                <c:formatCode>General</c:formatCode>
                <c:ptCount val="5"/>
                <c:pt idx="0">
                  <c:v>43.9</c:v>
                </c:pt>
                <c:pt idx="1">
                  <c:v>59.6</c:v>
                </c:pt>
                <c:pt idx="2">
                  <c:v>71.900000000000006</c:v>
                </c:pt>
                <c:pt idx="3">
                  <c:v>80.7</c:v>
                </c:pt>
                <c:pt idx="4">
                  <c:v>86</c:v>
                </c:pt>
              </c:numCache>
            </c:numRef>
          </c:val>
          <c:extLst>
            <c:ext xmlns:c16="http://schemas.microsoft.com/office/drawing/2014/chart" uri="{C3380CC4-5D6E-409C-BE32-E72D297353CC}">
              <c16:uniqueId val="{00000001-9756-4A60-BD79-BA082DA7DB69}"/>
            </c:ext>
          </c:extLst>
        </c:ser>
        <c:ser>
          <c:idx val="2"/>
          <c:order val="2"/>
          <c:tx>
            <c:strRef>
              <c:f>Sheet1!$D$1</c:f>
              <c:strCache>
                <c:ptCount val="1"/>
                <c:pt idx="0">
                  <c:v>Hybrid RRF</c:v>
                </c:pt>
              </c:strCache>
            </c:strRef>
          </c:tx>
          <c:spPr>
            <a:solidFill>
              <a:srgbClr val="1C2B52"/>
            </a:solidFill>
            <a:effectLst/>
          </c:spPr>
          <c:invertIfNegative val="0"/>
          <c:cat>
            <c:strRef>
              <c:f>Sheet1!$A$2:$A$6</c:f>
              <c:strCache>
                <c:ptCount val="5"/>
                <c:pt idx="0">
                  <c:v>k = 1</c:v>
                </c:pt>
                <c:pt idx="1">
                  <c:v>k = 3</c:v>
                </c:pt>
                <c:pt idx="2">
                  <c:v>k = 5</c:v>
                </c:pt>
                <c:pt idx="3">
                  <c:v>k = 10</c:v>
                </c:pt>
                <c:pt idx="4">
                  <c:v>k = 20</c:v>
                </c:pt>
              </c:strCache>
            </c:strRef>
          </c:cat>
          <c:val>
            <c:numRef>
              <c:f>Sheet1!$D$2:$D$6</c:f>
              <c:numCache>
                <c:formatCode>General</c:formatCode>
                <c:ptCount val="5"/>
                <c:pt idx="0">
                  <c:v>50.9</c:v>
                </c:pt>
                <c:pt idx="1">
                  <c:v>75.400000000000006</c:v>
                </c:pt>
                <c:pt idx="2">
                  <c:v>80.7</c:v>
                </c:pt>
                <c:pt idx="3">
                  <c:v>87.7</c:v>
                </c:pt>
                <c:pt idx="4">
                  <c:v>94.7</c:v>
                </c:pt>
              </c:numCache>
            </c:numRef>
          </c:val>
          <c:extLst>
            <c:ext xmlns:c16="http://schemas.microsoft.com/office/drawing/2014/chart" uri="{C3380CC4-5D6E-409C-BE32-E72D297353CC}">
              <c16:uniqueId val="{00000002-9756-4A60-BD79-BA082DA7DB69}"/>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5E9F0"/>
              </a:solidFill>
              <a:prstDash val="solid"/>
              <a:round/>
            </a:ln>
          </c:spPr>
        </c:majorGridlines>
        <c:title>
          <c:tx>
            <c:rich>
              <a:bodyPr/>
              <a:lstStyle/>
              <a:p>
                <a:pPr>
                  <a:defRPr sz="1000" b="0" i="0" u="none" strike="noStrike">
                    <a:solidFill>
                      <a:srgbClr val="6B7280"/>
                    </a:solidFill>
                    <a:latin typeface="Calibri"/>
                  </a:defRPr>
                </a:pPr>
                <a:r>
                  <a:rPr lang="en-GB" sz="1000" b="0" i="0" u="none" strike="noStrike">
                    <a:solidFill>
                      <a:srgbClr val="6B7280"/>
                    </a:solidFill>
                    <a:latin typeface="Calibri"/>
                  </a:rPr>
                  <a:t>Evidence found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Hybrid RRF</c:v>
                </c:pt>
              </c:strCache>
            </c:strRef>
          </c:tx>
          <c:spPr>
            <a:solidFill>
              <a:srgbClr val="A9B4C9"/>
            </a:solidFill>
            <a:effectLst/>
          </c:spPr>
          <c:invertIfNegative val="0"/>
          <c:dLbls>
            <c:numFmt formatCode="0.0&quot;%&quot;" sourceLinked="0"/>
            <c:spPr>
              <a:noFill/>
              <a:ln>
                <a:noFill/>
              </a:ln>
              <a:effectLst/>
            </c:spPr>
            <c:txPr>
              <a:bodyPr/>
              <a:lstStyle/>
              <a:p>
                <a:pPr>
                  <a:defRPr sz="90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 = 1</c:v>
                </c:pt>
                <c:pt idx="1">
                  <c:v>k = 3</c:v>
                </c:pt>
                <c:pt idx="2">
                  <c:v>k = 5</c:v>
                </c:pt>
                <c:pt idx="3">
                  <c:v>k = 10</c:v>
                </c:pt>
                <c:pt idx="4">
                  <c:v>k = 20</c:v>
                </c:pt>
              </c:strCache>
            </c:strRef>
          </c:cat>
          <c:val>
            <c:numRef>
              <c:f>Sheet1!$B$2:$B$6</c:f>
              <c:numCache>
                <c:formatCode>General</c:formatCode>
                <c:ptCount val="5"/>
                <c:pt idx="0">
                  <c:v>50.9</c:v>
                </c:pt>
                <c:pt idx="1">
                  <c:v>75.400000000000006</c:v>
                </c:pt>
                <c:pt idx="2">
                  <c:v>80.7</c:v>
                </c:pt>
                <c:pt idx="3">
                  <c:v>87.7</c:v>
                </c:pt>
                <c:pt idx="4">
                  <c:v>94.7</c:v>
                </c:pt>
              </c:numCache>
            </c:numRef>
          </c:val>
          <c:extLst>
            <c:ext xmlns:c16="http://schemas.microsoft.com/office/drawing/2014/chart" uri="{C3380CC4-5D6E-409C-BE32-E72D297353CC}">
              <c16:uniqueId val="{00000000-BF1C-44D9-9D3F-260F9E2612D6}"/>
            </c:ext>
          </c:extLst>
        </c:ser>
        <c:ser>
          <c:idx val="1"/>
          <c:order val="1"/>
          <c:tx>
            <c:strRef>
              <c:f>Sheet1!$C$1</c:f>
              <c:strCache>
                <c:ptCount val="1"/>
                <c:pt idx="0">
                  <c:v>Hybrid + cross-encoder</c:v>
                </c:pt>
              </c:strCache>
            </c:strRef>
          </c:tx>
          <c:spPr>
            <a:solidFill>
              <a:srgbClr val="1C2B52"/>
            </a:solidFill>
            <a:effectLst/>
          </c:spPr>
          <c:invertIfNegative val="0"/>
          <c:dLbls>
            <c:numFmt formatCode="0.0&quot;%&quot;" sourceLinked="0"/>
            <c:spPr>
              <a:noFill/>
              <a:ln>
                <a:noFill/>
              </a:ln>
              <a:effectLst/>
            </c:spPr>
            <c:txPr>
              <a:bodyPr/>
              <a:lstStyle/>
              <a:p>
                <a:pPr>
                  <a:defRPr sz="90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 = 1</c:v>
                </c:pt>
                <c:pt idx="1">
                  <c:v>k = 3</c:v>
                </c:pt>
                <c:pt idx="2">
                  <c:v>k = 5</c:v>
                </c:pt>
                <c:pt idx="3">
                  <c:v>k = 10</c:v>
                </c:pt>
                <c:pt idx="4">
                  <c:v>k = 20</c:v>
                </c:pt>
              </c:strCache>
            </c:strRef>
          </c:cat>
          <c:val>
            <c:numRef>
              <c:f>Sheet1!$C$2:$C$6</c:f>
              <c:numCache>
                <c:formatCode>General</c:formatCode>
                <c:ptCount val="5"/>
                <c:pt idx="0">
                  <c:v>66.7</c:v>
                </c:pt>
                <c:pt idx="1">
                  <c:v>86</c:v>
                </c:pt>
                <c:pt idx="2">
                  <c:v>87.7</c:v>
                </c:pt>
                <c:pt idx="3">
                  <c:v>93</c:v>
                </c:pt>
                <c:pt idx="4">
                  <c:v>94.7</c:v>
                </c:pt>
              </c:numCache>
            </c:numRef>
          </c:val>
          <c:extLst>
            <c:ext xmlns:c16="http://schemas.microsoft.com/office/drawing/2014/chart" uri="{C3380CC4-5D6E-409C-BE32-E72D297353CC}">
              <c16:uniqueId val="{00000001-BF1C-44D9-9D3F-260F9E2612D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lblOffset val="100"/>
        <c:noMultiLvlLbl val="1"/>
      </c:catAx>
      <c:valAx>
        <c:axId val="2094734552"/>
        <c:scaling>
          <c:orientation val="minMax"/>
          <c:max val="108"/>
          <c:min val="0"/>
        </c:scaling>
        <c:delete val="0"/>
        <c:axPos val="l"/>
        <c:majorGridlines>
          <c:spPr>
            <a:ln w="12700" cap="flat">
              <a:solidFill>
                <a:srgbClr val="E5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omments/modernComment_104_0.xml><?xml version="1.0" encoding="utf-8"?>
<p188:cmLst xmlns:a="http://schemas.openxmlformats.org/drawingml/2006/main" xmlns:r="http://schemas.openxmlformats.org/officeDocument/2006/relationships" xmlns:p188="http://schemas.microsoft.com/office/powerpoint/2018/8/main">
  <p188:cm id="{94B235B4-E0F0-4137-928A-519547C97D16}" authorId="{07C4E0E9-0AB7-A819-C3D8-D125C9CC882F}" created="2026-07-31T14:00:08.514">
    <pc:sldMkLst xmlns:pc="http://schemas.microsoft.com/office/powerpoint/2013/main/command">
      <pc:docMk/>
      <pc:sldMk cId="0" sldId="260"/>
    </pc:sldMkLst>
    <p188:txBody>
      <a:bodyPr/>
      <a:lstStyle/>
      <a:p>
        <a:r>
          <a:rPr lang="en-GB"/>
          <a:t>What does the K represent here ? Is it the same K In the cross-encore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917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of this meeting: agree the evaluation protocol and the smallest justified path from retrieval to a defensible end-to-end result. Two decisions I actually need: review coverage, and scope for the remaining two weeks of experiments.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63/100 as correctness. 43/100 is the exact-citation-plus-content figure. The gap between 82 retrieved and 63 accepted is the interesting part: retrieval is necessary but not sufficient.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the earlier feedback about the RAG ceiling and switching point with the requests for parent-child chunking, larger embeddings, hybrid retrieval and reranking. It is the difference between a leaderboard and a research contribution.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avoid the display of dev/test numbers without justifying it . Like why 42/57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embedding model was selected on development data only, before opening the test comparison. BM25's strength is not a curiosity: regulatory language is formulaic and identifier-heavy, which is exactly what lexical matching is good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at k=20 is unchanged by construction — that invariance is what separates a ranking failure from a candidate-generation failure. At k=5 reranking recovers five hybrid misses and breaks one prior success, net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methodological point of the whole project. If I had simply reported 54/57 as a ceiling, one of those three is a labelling error and one is an ill-posed question. Only the third is a system limitation.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Registered as decisions D023 and D024 before any response was collected. That ordering is the whole point — a rule chosen after seeing the answers is not a protocol.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kappa: 0.32 on seven records is fair agreement but a very unstable estimate. Do not present it as a finding, present it as the first measurement. The two real results are QA_0063 being externally confirmed, and the citation-legibility problem, which I did not anticipate and which no automatic metric would have caught. Reviewers also caught substantive errors on QA_0040, QA_0097, QA_0163 and QA_0287.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not just on final accuracy but on escalation precision and recall. A policy that escalates everything has perfect recall and is worthless — reporting both is what makes the economy claim falsifiable.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review status in the room. The tooling is built and the form is live; what is not yet done is the collection and adjudication.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draft review slot shortly after 12 August so there is time to act on the feedback before the end-of-month deadline.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priority is not another model variant. It is freezing credible gold data and moving to end-to-end grounded-answer evaluation. Agree who completes the review and by what date.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The point is not that agents are uninteresting — it is that the current evaluation set cannot distinguish an agent that helps from one that does not, because no question in it needs more than one legal parent. If he wants E6 in scope, the honest answer is that it requires building a cross-reference subset first, and that competes directly with generation and verification on the critical path.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52"/>
        </a:solidFill>
        <a:effectLst/>
      </p:bgPr>
    </p:bg>
    <p:spTree>
      <p:nvGrpSpPr>
        <p:cNvPr id="1" name=""/>
        <p:cNvGrpSpPr/>
        <p:nvPr/>
      </p:nvGrpSpPr>
      <p:grpSpPr>
        <a:xfrm>
          <a:off x="0" y="0"/>
          <a:ext cx="0" cy="0"/>
          <a:chOff x="0" y="0"/>
          <a:chExt cx="0" cy="0"/>
        </a:xfrm>
      </p:grpSpPr>
      <p:sp>
        <p:nvSpPr>
          <p:cNvPr id="2" name="Shape 0"/>
          <p:cNvSpPr/>
          <p:nvPr/>
        </p:nvSpPr>
        <p:spPr>
          <a:xfrm>
            <a:off x="493776" y="448056"/>
            <a:ext cx="1572768" cy="658368"/>
          </a:xfrm>
          <a:prstGeom prst="roundRect">
            <a:avLst>
              <a:gd name="adj" fmla="val 8333"/>
            </a:avLst>
          </a:prstGeom>
          <a:solidFill>
            <a:srgbClr val="FFFFFF"/>
          </a:solidFill>
          <a:ln w="12700">
            <a:solidFill>
              <a:srgbClr val="FFFFFF"/>
            </a:solidFill>
            <a:prstDash val="solid"/>
          </a:ln>
        </p:spPr>
        <p:txBody>
          <a:bodyPr/>
          <a:lstStyle/>
          <a:p>
            <a:endParaRPr lang="en-GB"/>
          </a:p>
        </p:txBody>
      </p:sp>
      <p:pic>
        <p:nvPicPr>
          <p:cNvPr id="3" name="Image 0" descr="preencoded.png"/>
          <p:cNvPicPr>
            <a:picLocks noChangeAspect="1"/>
          </p:cNvPicPr>
          <p:nvPr/>
        </p:nvPicPr>
        <p:blipFill>
          <a:blip r:embed="rId3"/>
          <a:stretch>
            <a:fillRect/>
          </a:stretch>
        </p:blipFill>
        <p:spPr>
          <a:xfrm>
            <a:off x="640080" y="566928"/>
            <a:ext cx="1280160" cy="402336"/>
          </a:xfrm>
          <a:prstGeom prst="rect">
            <a:avLst/>
          </a:prstGeom>
        </p:spPr>
      </p:pic>
      <p:sp>
        <p:nvSpPr>
          <p:cNvPr id="4" name="Text 1"/>
          <p:cNvSpPr/>
          <p:nvPr/>
        </p:nvSpPr>
        <p:spPr>
          <a:xfrm>
            <a:off x="640080" y="1828800"/>
            <a:ext cx="9509760" cy="173736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Where retrieval-grounded QA breaks —</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and what should happen next</a:t>
            </a:r>
            <a:endParaRPr lang="en-US" sz="4000" dirty="0"/>
          </a:p>
        </p:txBody>
      </p:sp>
      <p:sp>
        <p:nvSpPr>
          <p:cNvPr id="5" name="Text 2"/>
          <p:cNvSpPr/>
          <p:nvPr/>
        </p:nvSpPr>
        <p:spPr>
          <a:xfrm>
            <a:off x="640080" y="3703320"/>
            <a:ext cx="9509760" cy="411480"/>
          </a:xfrm>
          <a:prstGeom prst="rect">
            <a:avLst/>
          </a:prstGeom>
          <a:noFill/>
          <a:ln/>
        </p:spPr>
        <p:txBody>
          <a:bodyPr wrap="square" lIns="0" tIns="0" rIns="0" bIns="0" rtlCol="0" anchor="ctr"/>
          <a:lstStyle/>
          <a:p>
            <a:pPr marL="0" indent="0">
              <a:buNone/>
            </a:pPr>
            <a:r>
              <a:rPr lang="en-US" sz="1700" dirty="0">
                <a:solidFill>
                  <a:srgbClr val="C9D3E8"/>
                </a:solidFill>
                <a:latin typeface="Calibri" pitchFamily="34" charset="0"/>
                <a:ea typeface="Calibri" pitchFamily="34" charset="-122"/>
                <a:cs typeface="Calibri" pitchFamily="34" charset="-120"/>
              </a:rPr>
              <a:t>Citation-grounded question answering over EU aviation regulations</a:t>
            </a:r>
            <a:endParaRPr lang="en-US" sz="1700" dirty="0"/>
          </a:p>
        </p:txBody>
      </p:sp>
      <p:sp>
        <p:nvSpPr>
          <p:cNvPr id="6" name="Shape 3"/>
          <p:cNvSpPr/>
          <p:nvPr/>
        </p:nvSpPr>
        <p:spPr>
          <a:xfrm>
            <a:off x="640080" y="4343400"/>
            <a:ext cx="1005840" cy="32004"/>
          </a:xfrm>
          <a:prstGeom prst="rect">
            <a:avLst/>
          </a:prstGeom>
          <a:solidFill>
            <a:srgbClr val="B5922A"/>
          </a:solidFill>
          <a:ln w="12700">
            <a:solidFill>
              <a:srgbClr val="B5922A"/>
            </a:solidFill>
            <a:prstDash val="solid"/>
          </a:ln>
        </p:spPr>
        <p:txBody>
          <a:bodyPr/>
          <a:lstStyle/>
          <a:p>
            <a:endParaRPr lang="en-GB"/>
          </a:p>
        </p:txBody>
      </p:sp>
      <p:sp>
        <p:nvSpPr>
          <p:cNvPr id="7" name="Text 4"/>
          <p:cNvSpPr/>
          <p:nvPr/>
        </p:nvSpPr>
        <p:spPr>
          <a:xfrm>
            <a:off x="640080" y="4709160"/>
            <a:ext cx="95097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Mahamat Saleh Samir Adam</a:t>
            </a:r>
            <a:r>
              <a:rPr lang="en-US" sz="1300" dirty="0">
                <a:solidFill>
                  <a:srgbClr val="9FB0CE"/>
                </a:solidFill>
                <a:latin typeface="Calibri" pitchFamily="34" charset="0"/>
                <a:ea typeface="Calibri" pitchFamily="34" charset="-122"/>
                <a:cs typeface="Calibri" pitchFamily="34" charset="-120"/>
              </a:rPr>
              <a:t>   ·   PGE5 aivancity   </a:t>
            </a:r>
            <a:endParaRPr lang="en-US" sz="1300" dirty="0"/>
          </a:p>
        </p:txBody>
      </p:sp>
      <p:sp>
        <p:nvSpPr>
          <p:cNvPr id="8" name="Text 5"/>
          <p:cNvSpPr/>
          <p:nvPr/>
        </p:nvSpPr>
        <p:spPr>
          <a:xfrm>
            <a:off x="640080" y="6080760"/>
            <a:ext cx="7315200" cy="274320"/>
          </a:xfrm>
          <a:prstGeom prst="rect">
            <a:avLst/>
          </a:prstGeom>
          <a:noFill/>
          <a:ln/>
        </p:spPr>
        <p:txBody>
          <a:bodyPr wrap="square" lIns="0" tIns="0" rIns="0" bIns="0" rtlCol="0" anchor="ctr"/>
          <a:lstStyle/>
          <a:p>
            <a:pPr marL="0" indent="0">
              <a:buNone/>
            </a:pPr>
            <a:r>
              <a:rPr lang="en-US" sz="1050" dirty="0">
                <a:solidFill>
                  <a:srgbClr val="7D8CAA"/>
                </a:solidFill>
                <a:latin typeface="Calibri" pitchFamily="34" charset="0"/>
                <a:ea typeface="Calibri" pitchFamily="34" charset="-122"/>
                <a:cs typeface="Calibri" pitchFamily="34" charset="-120"/>
              </a:rPr>
              <a:t>Regulation (EU) No 376/2014 — occurrence reporting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STARTING POINT</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The original 63/100 mixed system failure with data defects</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828800"/>
            <a:ext cx="27432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822960" y="1975104"/>
            <a:ext cx="23774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82/100</a:t>
            </a:r>
            <a:endParaRPr lang="en-US" sz="4000" dirty="0"/>
          </a:p>
        </p:txBody>
      </p:sp>
      <p:sp>
        <p:nvSpPr>
          <p:cNvPr id="7" name="Text 4"/>
          <p:cNvSpPr/>
          <p:nvPr/>
        </p:nvSpPr>
        <p:spPr>
          <a:xfrm>
            <a:off x="822960" y="2697480"/>
            <a:ext cx="23774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Designated legacy chunk retrieved</a:t>
            </a:r>
            <a:endParaRPr lang="en-US" sz="1200" dirty="0"/>
          </a:p>
        </p:txBody>
      </p:sp>
      <p:sp>
        <p:nvSpPr>
          <p:cNvPr id="8" name="Shape 5"/>
          <p:cNvSpPr/>
          <p:nvPr/>
        </p:nvSpPr>
        <p:spPr>
          <a:xfrm>
            <a:off x="3611880" y="1828800"/>
            <a:ext cx="27432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9" name="Text 6"/>
          <p:cNvSpPr/>
          <p:nvPr/>
        </p:nvSpPr>
        <p:spPr>
          <a:xfrm>
            <a:off x="3794760" y="1975104"/>
            <a:ext cx="23774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63/100</a:t>
            </a:r>
            <a:endParaRPr lang="en-US" sz="4000" dirty="0"/>
          </a:p>
        </p:txBody>
      </p:sp>
      <p:sp>
        <p:nvSpPr>
          <p:cNvPr id="10" name="Text 7"/>
          <p:cNvSpPr/>
          <p:nvPr/>
        </p:nvSpPr>
        <p:spPr>
          <a:xfrm>
            <a:off x="3794760" y="2697480"/>
            <a:ext cx="23774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Loose proxy threshold passed</a:t>
            </a:r>
            <a:endParaRPr lang="en-US" sz="1200" dirty="0"/>
          </a:p>
        </p:txBody>
      </p:sp>
      <p:sp>
        <p:nvSpPr>
          <p:cNvPr id="11" name="Shape 8"/>
          <p:cNvSpPr/>
          <p:nvPr/>
        </p:nvSpPr>
        <p:spPr>
          <a:xfrm>
            <a:off x="6583680" y="1828800"/>
            <a:ext cx="27432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2" name="Text 9"/>
          <p:cNvSpPr/>
          <p:nvPr/>
        </p:nvSpPr>
        <p:spPr>
          <a:xfrm>
            <a:off x="6766560" y="1975104"/>
            <a:ext cx="2377440" cy="685800"/>
          </a:xfrm>
          <a:prstGeom prst="rect">
            <a:avLst/>
          </a:prstGeom>
          <a:noFill/>
          <a:ln/>
        </p:spPr>
        <p:txBody>
          <a:bodyPr wrap="square" lIns="0" tIns="0" rIns="0" bIns="0" rtlCol="0" anchor="ctr"/>
          <a:lstStyle/>
          <a:p>
            <a:pPr marL="0" indent="0" algn="l">
              <a:buNone/>
            </a:pPr>
            <a:r>
              <a:rPr lang="en-US" sz="4000" b="1" dirty="0">
                <a:solidFill>
                  <a:srgbClr val="9B1C1C"/>
                </a:solidFill>
                <a:latin typeface="Cambria" pitchFamily="34" charset="0"/>
                <a:ea typeface="Cambria" pitchFamily="34" charset="-122"/>
                <a:cs typeface="Cambria" pitchFamily="34" charset="-120"/>
              </a:rPr>
              <a:t>43/100</a:t>
            </a:r>
            <a:endParaRPr lang="en-US" sz="4000" dirty="0"/>
          </a:p>
        </p:txBody>
      </p:sp>
      <p:sp>
        <p:nvSpPr>
          <p:cNvPr id="13" name="Text 10"/>
          <p:cNvSpPr/>
          <p:nvPr/>
        </p:nvSpPr>
        <p:spPr>
          <a:xfrm>
            <a:off x="6766560" y="2697480"/>
            <a:ext cx="23774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Exact citation + content</a:t>
            </a:r>
            <a:endParaRPr lang="en-US" sz="1200" dirty="0"/>
          </a:p>
        </p:txBody>
      </p:sp>
      <p:sp>
        <p:nvSpPr>
          <p:cNvPr id="14" name="Text 11"/>
          <p:cNvSpPr/>
          <p:nvPr/>
        </p:nvSpPr>
        <p:spPr>
          <a:xfrm>
            <a:off x="640080" y="3520440"/>
            <a:ext cx="566928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But the same baseline also contained:</a:t>
            </a:r>
            <a:endParaRPr lang="en-US" sz="1400" dirty="0"/>
          </a:p>
        </p:txBody>
      </p:sp>
      <p:sp>
        <p:nvSpPr>
          <p:cNvPr id="15" name="Text 12"/>
          <p:cNvSpPr/>
          <p:nvPr/>
        </p:nvSpPr>
        <p:spPr>
          <a:xfrm>
            <a:off x="731520" y="3931920"/>
            <a:ext cx="5669280" cy="18288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flat chunks up to 30,275 characters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 fixed 1,500-character context truncation</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parser and document-identity defects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unchecked synthetic gold answers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article-level partial citations counted as 0.5</a:t>
            </a:r>
            <a:endParaRPr lang="en-US" sz="1350" dirty="0"/>
          </a:p>
        </p:txBody>
      </p:sp>
      <p:sp>
        <p:nvSpPr>
          <p:cNvPr id="16" name="Shape 13"/>
          <p:cNvSpPr/>
          <p:nvPr/>
        </p:nvSpPr>
        <p:spPr>
          <a:xfrm>
            <a:off x="6583680" y="3520440"/>
            <a:ext cx="4937760" cy="1874520"/>
          </a:xfrm>
          <a:prstGeom prst="roundRect">
            <a:avLst>
              <a:gd name="adj" fmla="val 3902"/>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17" name="Text 14"/>
          <p:cNvSpPr/>
          <p:nvPr/>
        </p:nvSpPr>
        <p:spPr>
          <a:xfrm>
            <a:off x="6812280" y="3794760"/>
            <a:ext cx="4480560" cy="822960"/>
          </a:xfrm>
          <a:prstGeom prst="rect">
            <a:avLst/>
          </a:prstGeom>
          <a:noFill/>
          <a:ln/>
        </p:spPr>
        <p:txBody>
          <a:bodyPr wrap="square" lIns="0" tIns="0" rIns="0" bIns="0" rtlCol="0" anchor="ctr"/>
          <a:lstStyle/>
          <a:p>
            <a:pPr marL="0" indent="0">
              <a:lnSpc>
                <a:spcPts val="2400"/>
              </a:lnSpc>
              <a:buNone/>
            </a:pPr>
            <a:r>
              <a:rPr lang="en-US" sz="1900" b="1" dirty="0">
                <a:solidFill>
                  <a:srgbClr val="FFFFFF"/>
                </a:solidFill>
                <a:latin typeface="Cambria" pitchFamily="34" charset="0"/>
                <a:ea typeface="Cambria" pitchFamily="34" charset="-122"/>
                <a:cs typeface="Cambria" pitchFamily="34" charset="-120"/>
              </a:rPr>
              <a:t>The original number is a baseline,</a:t>
            </a:r>
            <a:endParaRPr lang="en-US" sz="1900" dirty="0"/>
          </a:p>
          <a:p>
            <a:pPr marL="0" indent="0">
              <a:lnSpc>
                <a:spcPts val="2400"/>
              </a:lnSpc>
              <a:buNone/>
            </a:pPr>
            <a:r>
              <a:rPr lang="en-US" sz="1900" b="1" dirty="0">
                <a:solidFill>
                  <a:srgbClr val="FFFFFF"/>
                </a:solidFill>
                <a:latin typeface="Cambria" pitchFamily="34" charset="0"/>
                <a:ea typeface="Cambria" pitchFamily="34" charset="-122"/>
                <a:cs typeface="Cambria" pitchFamily="34" charset="-120"/>
              </a:rPr>
              <a:t>not a clean RAG ceiling.</a:t>
            </a:r>
            <a:endParaRPr lang="en-US" sz="1900" dirty="0"/>
          </a:p>
        </p:txBody>
      </p:sp>
      <p:sp>
        <p:nvSpPr>
          <p:cNvPr id="18" name="Text 15"/>
          <p:cNvSpPr/>
          <p:nvPr/>
        </p:nvSpPr>
        <p:spPr>
          <a:xfrm>
            <a:off x="6812280" y="4709160"/>
            <a:ext cx="4480560" cy="548640"/>
          </a:xfrm>
          <a:prstGeom prst="rect">
            <a:avLst/>
          </a:prstGeom>
          <a:noFill/>
          <a:ln/>
        </p:spPr>
        <p:txBody>
          <a:bodyPr wrap="square" lIns="0" tIns="0" rIns="0" bIns="0" rtlCol="0" anchor="ctr"/>
          <a:lstStyle/>
          <a:p>
            <a:pPr marL="0" indent="0">
              <a:buNone/>
            </a:pPr>
            <a:r>
              <a:rPr lang="en-US" sz="1200" dirty="0">
                <a:solidFill>
                  <a:srgbClr val="C9D3E8"/>
                </a:solidFill>
                <a:latin typeface="Calibri" pitchFamily="34" charset="0"/>
                <a:ea typeface="Calibri" pitchFamily="34" charset="-122"/>
                <a:cs typeface="Calibri" pitchFamily="34" charset="-120"/>
              </a:rPr>
              <a:t>The repaired pipeline isolates data defects before attributing anything to the model.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RESEARCH CONTRIBUTION</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The useful question is not “which system wins?”</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874520"/>
            <a:ext cx="5029200" cy="1600200"/>
          </a:xfrm>
          <a:prstGeom prst="roundRect">
            <a:avLst>
              <a:gd name="adj" fmla="val 457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914400" y="2057400"/>
            <a:ext cx="4480560" cy="274320"/>
          </a:xfrm>
          <a:prstGeom prst="rect">
            <a:avLst/>
          </a:prstGeom>
          <a:noFill/>
          <a:ln/>
        </p:spPr>
        <p:txBody>
          <a:bodyPr wrap="square" lIns="0" tIns="0" rIns="0" bIns="0" rtlCol="0" anchor="ctr"/>
          <a:lstStyle/>
          <a:p>
            <a:pPr marL="0" indent="0">
              <a:buNone/>
            </a:pPr>
            <a:r>
              <a:rPr lang="en-US" sz="1050" b="1" kern="0" spc="150" dirty="0">
                <a:solidFill>
                  <a:srgbClr val="6B7280"/>
                </a:solidFill>
                <a:latin typeface="Calibri" pitchFamily="34" charset="0"/>
                <a:ea typeface="Calibri" pitchFamily="34" charset="-122"/>
                <a:cs typeface="Calibri" pitchFamily="34" charset="-120"/>
              </a:rPr>
              <a:t>BASELINE QUESTION</a:t>
            </a:r>
            <a:endParaRPr lang="en-US" sz="1050" dirty="0"/>
          </a:p>
        </p:txBody>
      </p:sp>
      <p:sp>
        <p:nvSpPr>
          <p:cNvPr id="7" name="Text 4"/>
          <p:cNvSpPr/>
          <p:nvPr/>
        </p:nvSpPr>
        <p:spPr>
          <a:xfrm>
            <a:off x="914400" y="2377440"/>
            <a:ext cx="4480560" cy="914400"/>
          </a:xfrm>
          <a:prstGeom prst="rect">
            <a:avLst/>
          </a:prstGeom>
          <a:noFill/>
          <a:ln/>
        </p:spPr>
        <p:txBody>
          <a:bodyPr wrap="square" lIns="0" tIns="0" rIns="0" bIns="0" rtlCol="0" anchor="ctr"/>
          <a:lstStyle/>
          <a:p>
            <a:pPr marL="0" indent="0">
              <a:lnSpc>
                <a:spcPts val="2200"/>
              </a:lnSpc>
              <a:buNone/>
            </a:pPr>
            <a:r>
              <a:rPr lang="en-US" sz="1700" dirty="0">
                <a:solidFill>
                  <a:srgbClr val="1F2937"/>
                </a:solidFill>
                <a:latin typeface="Cambria" pitchFamily="34" charset="0"/>
                <a:ea typeface="Cambria" pitchFamily="34" charset="-122"/>
                <a:cs typeface="Cambria" pitchFamily="34" charset="-120"/>
              </a:rPr>
              <a:t>Which performs best: few-shot, RAG, or LoRA?</a:t>
            </a:r>
            <a:endParaRPr lang="en-US" sz="1700" dirty="0"/>
          </a:p>
        </p:txBody>
      </p:sp>
      <p:sp>
        <p:nvSpPr>
          <p:cNvPr id="8" name="Shape 5"/>
          <p:cNvSpPr/>
          <p:nvPr/>
        </p:nvSpPr>
        <p:spPr>
          <a:xfrm>
            <a:off x="6035040" y="1874520"/>
            <a:ext cx="5486400" cy="1600200"/>
          </a:xfrm>
          <a:prstGeom prst="roundRect">
            <a:avLst>
              <a:gd name="adj" fmla="val 4571"/>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9" name="Text 6"/>
          <p:cNvSpPr/>
          <p:nvPr/>
        </p:nvSpPr>
        <p:spPr>
          <a:xfrm>
            <a:off x="6309360" y="2057400"/>
            <a:ext cx="4937760" cy="274320"/>
          </a:xfrm>
          <a:prstGeom prst="rect">
            <a:avLst/>
          </a:prstGeom>
          <a:noFill/>
          <a:ln/>
        </p:spPr>
        <p:txBody>
          <a:bodyPr wrap="square" lIns="0" tIns="0" rIns="0" bIns="0" rtlCol="0" anchor="ctr"/>
          <a:lstStyle/>
          <a:p>
            <a:pPr marL="0" indent="0">
              <a:buNone/>
            </a:pPr>
            <a:r>
              <a:rPr lang="en-US" sz="1050" b="1" kern="0" spc="150" dirty="0">
                <a:solidFill>
                  <a:srgbClr val="B5922A"/>
                </a:solidFill>
                <a:latin typeface="Calibri" pitchFamily="34" charset="0"/>
                <a:ea typeface="Calibri" pitchFamily="34" charset="-122"/>
                <a:cs typeface="Calibri" pitchFamily="34" charset="-120"/>
              </a:rPr>
              <a:t>REFRAMED QUESTION</a:t>
            </a:r>
            <a:endParaRPr lang="en-US" sz="1050" dirty="0"/>
          </a:p>
        </p:txBody>
      </p:sp>
      <p:sp>
        <p:nvSpPr>
          <p:cNvPr id="10" name="Text 7"/>
          <p:cNvSpPr/>
          <p:nvPr/>
        </p:nvSpPr>
        <p:spPr>
          <a:xfrm>
            <a:off x="6309360" y="2377440"/>
            <a:ext cx="4937760" cy="960120"/>
          </a:xfrm>
          <a:prstGeom prst="rect">
            <a:avLst/>
          </a:prstGeom>
          <a:noFill/>
          <a:ln/>
        </p:spPr>
        <p:txBody>
          <a:bodyPr wrap="square" lIns="0" tIns="0" rIns="0" bIns="0" rtlCol="0" anchor="ctr"/>
          <a:lstStyle/>
          <a:p>
            <a:pPr marL="0" indent="0">
              <a:lnSpc>
                <a:spcPts val="2200"/>
              </a:lnSpc>
              <a:buNone/>
            </a:pPr>
            <a:r>
              <a:rPr lang="en-US" sz="1700" dirty="0">
                <a:solidFill>
                  <a:srgbClr val="FFFFFF"/>
                </a:solidFill>
                <a:latin typeface="Cambria" pitchFamily="34" charset="0"/>
                <a:ea typeface="Cambria" pitchFamily="34" charset="-122"/>
                <a:cs typeface="Cambria" pitchFamily="34" charset="-120"/>
              </a:rPr>
              <a:t>Where does retrieval-grounded QA fail, and which observable condition justifies escalating?</a:t>
            </a:r>
            <a:endParaRPr lang="en-US" sz="1700" dirty="0"/>
          </a:p>
        </p:txBody>
      </p:sp>
      <p:sp>
        <p:nvSpPr>
          <p:cNvPr id="11" name="Text 8"/>
          <p:cNvSpPr/>
          <p:nvPr/>
        </p:nvSpPr>
        <p:spPr>
          <a:xfrm>
            <a:off x="640080" y="3886200"/>
            <a:ext cx="10881360" cy="320040"/>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Target contribution</a:t>
            </a:r>
            <a:endParaRPr lang="en-US" sz="1200" dirty="0"/>
          </a:p>
        </p:txBody>
      </p:sp>
      <p:sp>
        <p:nvSpPr>
          <p:cNvPr id="12" name="Text 9"/>
          <p:cNvSpPr/>
          <p:nvPr/>
        </p:nvSpPr>
        <p:spPr>
          <a:xfrm>
            <a:off x="640080" y="4224528"/>
            <a:ext cx="10515600" cy="548640"/>
          </a:xfrm>
          <a:prstGeom prst="rect">
            <a:avLst/>
          </a:prstGeom>
          <a:noFill/>
          <a:ln/>
        </p:spPr>
        <p:txBody>
          <a:bodyPr wrap="square" lIns="0" tIns="0" rIns="0" bIns="0" rtlCol="0" anchor="ctr"/>
          <a:lstStyle/>
          <a:p>
            <a:pPr marL="0" indent="0">
              <a:buNone/>
            </a:pPr>
            <a:r>
              <a:rPr lang="en-US" sz="2400" b="1" dirty="0">
                <a:solidFill>
                  <a:srgbClr val="1C2B52"/>
                </a:solidFill>
                <a:latin typeface="Cambria" pitchFamily="34" charset="0"/>
                <a:ea typeface="Cambria" pitchFamily="34" charset="-122"/>
                <a:cs typeface="Cambria" pitchFamily="34" charset="-120"/>
              </a:rPr>
              <a:t>Use the simplest intervention that recovers the failure. Do not apply an agent to every question.</a:t>
            </a:r>
            <a:endParaRPr lang="en-US" sz="2400" dirty="0"/>
          </a:p>
        </p:txBody>
      </p:sp>
      <p:sp>
        <p:nvSpPr>
          <p:cNvPr id="13" name="Shape 10"/>
          <p:cNvSpPr/>
          <p:nvPr/>
        </p:nvSpPr>
        <p:spPr>
          <a:xfrm>
            <a:off x="640080" y="5029200"/>
            <a:ext cx="384048" cy="384048"/>
          </a:xfrm>
          <a:prstGeom prst="ellipse">
            <a:avLst/>
          </a:prstGeom>
          <a:solidFill>
            <a:srgbClr val="B5922A"/>
          </a:solidFill>
          <a:ln w="12700">
            <a:solidFill>
              <a:srgbClr val="B5922A"/>
            </a:solidFill>
            <a:prstDash val="solid"/>
          </a:ln>
        </p:spPr>
        <p:txBody>
          <a:bodyPr/>
          <a:lstStyle/>
          <a:p>
            <a:endParaRPr lang="en-GB"/>
          </a:p>
        </p:txBody>
      </p:sp>
      <p:sp>
        <p:nvSpPr>
          <p:cNvPr id="14" name="Text 11"/>
          <p:cNvSpPr/>
          <p:nvPr/>
        </p:nvSpPr>
        <p:spPr>
          <a:xfrm>
            <a:off x="640080" y="5065776"/>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1</a:t>
            </a:r>
            <a:endParaRPr lang="en-US" sz="1300" dirty="0"/>
          </a:p>
        </p:txBody>
      </p:sp>
      <p:sp>
        <p:nvSpPr>
          <p:cNvPr id="15" name="Text 12"/>
          <p:cNvSpPr/>
          <p:nvPr/>
        </p:nvSpPr>
        <p:spPr>
          <a:xfrm>
            <a:off x="1143000" y="5029200"/>
            <a:ext cx="292608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Auditable</a:t>
            </a:r>
            <a:endParaRPr lang="en-US" sz="1350" dirty="0"/>
          </a:p>
        </p:txBody>
      </p:sp>
      <p:sp>
        <p:nvSpPr>
          <p:cNvPr id="16" name="Text 13"/>
          <p:cNvSpPr/>
          <p:nvPr/>
        </p:nvSpPr>
        <p:spPr>
          <a:xfrm>
            <a:off x="1143000" y="5321808"/>
            <a:ext cx="301752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 compliance reviewer can inspect why the system escalated.</a:t>
            </a:r>
            <a:endParaRPr lang="en-US" sz="1150" dirty="0"/>
          </a:p>
        </p:txBody>
      </p:sp>
      <p:sp>
        <p:nvSpPr>
          <p:cNvPr id="17" name="Shape 14"/>
          <p:cNvSpPr/>
          <p:nvPr/>
        </p:nvSpPr>
        <p:spPr>
          <a:xfrm>
            <a:off x="4297680" y="5029200"/>
            <a:ext cx="384048" cy="384048"/>
          </a:xfrm>
          <a:prstGeom prst="ellipse">
            <a:avLst/>
          </a:prstGeom>
          <a:solidFill>
            <a:srgbClr val="B5922A"/>
          </a:solidFill>
          <a:ln w="12700">
            <a:solidFill>
              <a:srgbClr val="B5922A"/>
            </a:solidFill>
            <a:prstDash val="solid"/>
          </a:ln>
        </p:spPr>
        <p:txBody>
          <a:bodyPr/>
          <a:lstStyle/>
          <a:p>
            <a:endParaRPr lang="en-GB"/>
          </a:p>
        </p:txBody>
      </p:sp>
      <p:sp>
        <p:nvSpPr>
          <p:cNvPr id="18" name="Text 15"/>
          <p:cNvSpPr/>
          <p:nvPr/>
        </p:nvSpPr>
        <p:spPr>
          <a:xfrm>
            <a:off x="4297680" y="5065776"/>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2</a:t>
            </a:r>
            <a:endParaRPr lang="en-US" sz="1300" dirty="0"/>
          </a:p>
        </p:txBody>
      </p:sp>
      <p:sp>
        <p:nvSpPr>
          <p:cNvPr id="19" name="Text 16"/>
          <p:cNvSpPr/>
          <p:nvPr/>
        </p:nvSpPr>
        <p:spPr>
          <a:xfrm>
            <a:off x="4800600" y="5029200"/>
            <a:ext cx="292608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Economical</a:t>
            </a:r>
            <a:endParaRPr lang="en-US" sz="1350" dirty="0"/>
          </a:p>
        </p:txBody>
      </p:sp>
      <p:sp>
        <p:nvSpPr>
          <p:cNvPr id="20" name="Text 17"/>
          <p:cNvSpPr/>
          <p:nvPr/>
        </p:nvSpPr>
        <p:spPr>
          <a:xfrm>
            <a:off x="4800600" y="5321808"/>
            <a:ext cx="301752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Cost is spent only on the questions that need it.</a:t>
            </a:r>
            <a:endParaRPr lang="en-US" sz="1150" dirty="0"/>
          </a:p>
        </p:txBody>
      </p:sp>
      <p:sp>
        <p:nvSpPr>
          <p:cNvPr id="21" name="Shape 18"/>
          <p:cNvSpPr/>
          <p:nvPr/>
        </p:nvSpPr>
        <p:spPr>
          <a:xfrm>
            <a:off x="7955280" y="5029200"/>
            <a:ext cx="384048" cy="384048"/>
          </a:xfrm>
          <a:prstGeom prst="ellipse">
            <a:avLst/>
          </a:prstGeom>
          <a:solidFill>
            <a:srgbClr val="B5922A"/>
          </a:solidFill>
          <a:ln w="12700">
            <a:solidFill>
              <a:srgbClr val="B5922A"/>
            </a:solidFill>
            <a:prstDash val="solid"/>
          </a:ln>
        </p:spPr>
        <p:txBody>
          <a:bodyPr/>
          <a:lstStyle/>
          <a:p>
            <a:endParaRPr lang="en-GB"/>
          </a:p>
        </p:txBody>
      </p:sp>
      <p:sp>
        <p:nvSpPr>
          <p:cNvPr id="22" name="Text 19"/>
          <p:cNvSpPr/>
          <p:nvPr/>
        </p:nvSpPr>
        <p:spPr>
          <a:xfrm>
            <a:off x="7955280" y="5065776"/>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3</a:t>
            </a:r>
            <a:endParaRPr lang="en-US" sz="1300" dirty="0"/>
          </a:p>
        </p:txBody>
      </p:sp>
      <p:sp>
        <p:nvSpPr>
          <p:cNvPr id="23" name="Text 20"/>
          <p:cNvSpPr/>
          <p:nvPr/>
        </p:nvSpPr>
        <p:spPr>
          <a:xfrm>
            <a:off x="8458200" y="5029200"/>
            <a:ext cx="292608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Falsifiable</a:t>
            </a:r>
            <a:endParaRPr lang="en-US" sz="1350" dirty="0"/>
          </a:p>
        </p:txBody>
      </p:sp>
      <p:sp>
        <p:nvSpPr>
          <p:cNvPr id="24" name="Text 21"/>
          <p:cNvSpPr/>
          <p:nvPr/>
        </p:nvSpPr>
        <p:spPr>
          <a:xfrm>
            <a:off x="8458200" y="5321808"/>
            <a:ext cx="3017520" cy="64008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Escalation precision and recall make the claim testable.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CORPUS AND BENCHMARK</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Every candidate answer is now linked to exact legal evidence</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874520"/>
            <a:ext cx="25146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822960" y="2020824"/>
            <a:ext cx="21488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109</a:t>
            </a:r>
            <a:endParaRPr lang="en-US" sz="4000" dirty="0"/>
          </a:p>
        </p:txBody>
      </p:sp>
      <p:sp>
        <p:nvSpPr>
          <p:cNvPr id="7" name="Text 4"/>
          <p:cNvSpPr/>
          <p:nvPr/>
        </p:nvSpPr>
        <p:spPr>
          <a:xfrm>
            <a:off x="822960" y="2743200"/>
            <a:ext cx="21488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Legal parent units</a:t>
            </a:r>
            <a:endParaRPr lang="en-US" sz="1200" dirty="0"/>
          </a:p>
        </p:txBody>
      </p:sp>
      <p:sp>
        <p:nvSpPr>
          <p:cNvPr id="8" name="Shape 5"/>
          <p:cNvSpPr/>
          <p:nvPr/>
        </p:nvSpPr>
        <p:spPr>
          <a:xfrm>
            <a:off x="3383280" y="1874520"/>
            <a:ext cx="25146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9" name="Text 6"/>
          <p:cNvSpPr/>
          <p:nvPr/>
        </p:nvSpPr>
        <p:spPr>
          <a:xfrm>
            <a:off x="3566160" y="2020824"/>
            <a:ext cx="21488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1,535</a:t>
            </a:r>
            <a:endParaRPr lang="en-US" sz="4000" dirty="0"/>
          </a:p>
        </p:txBody>
      </p:sp>
      <p:sp>
        <p:nvSpPr>
          <p:cNvPr id="10" name="Text 7"/>
          <p:cNvSpPr/>
          <p:nvPr/>
        </p:nvSpPr>
        <p:spPr>
          <a:xfrm>
            <a:off x="3566160" y="2743200"/>
            <a:ext cx="21488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Retrievable child units</a:t>
            </a:r>
            <a:endParaRPr lang="en-US" sz="1200" dirty="0"/>
          </a:p>
        </p:txBody>
      </p:sp>
      <p:sp>
        <p:nvSpPr>
          <p:cNvPr id="11" name="Shape 8"/>
          <p:cNvSpPr/>
          <p:nvPr/>
        </p:nvSpPr>
        <p:spPr>
          <a:xfrm>
            <a:off x="6126480" y="1874520"/>
            <a:ext cx="25146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2" name="Text 9"/>
          <p:cNvSpPr/>
          <p:nvPr/>
        </p:nvSpPr>
        <p:spPr>
          <a:xfrm>
            <a:off x="6309360" y="2020824"/>
            <a:ext cx="21488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99</a:t>
            </a:r>
            <a:endParaRPr lang="en-US" sz="4000" dirty="0"/>
          </a:p>
        </p:txBody>
      </p:sp>
      <p:sp>
        <p:nvSpPr>
          <p:cNvPr id="13" name="Text 10"/>
          <p:cNvSpPr/>
          <p:nvPr/>
        </p:nvSpPr>
        <p:spPr>
          <a:xfrm>
            <a:off x="6309360" y="2743200"/>
            <a:ext cx="21488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Retained candidate questions</a:t>
            </a:r>
            <a:endParaRPr lang="en-US" sz="1200" dirty="0"/>
          </a:p>
        </p:txBody>
      </p:sp>
      <p:sp>
        <p:nvSpPr>
          <p:cNvPr id="14" name="Shape 11"/>
          <p:cNvSpPr/>
          <p:nvPr/>
        </p:nvSpPr>
        <p:spPr>
          <a:xfrm>
            <a:off x="8869680" y="1874520"/>
            <a:ext cx="265176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5" name="Text 12"/>
          <p:cNvSpPr/>
          <p:nvPr/>
        </p:nvSpPr>
        <p:spPr>
          <a:xfrm>
            <a:off x="9052560" y="2020824"/>
            <a:ext cx="228600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42 / 57</a:t>
            </a:r>
            <a:endParaRPr lang="en-US" sz="4000" dirty="0"/>
          </a:p>
        </p:txBody>
      </p:sp>
      <p:sp>
        <p:nvSpPr>
          <p:cNvPr id="16" name="Text 13"/>
          <p:cNvSpPr/>
          <p:nvPr/>
        </p:nvSpPr>
        <p:spPr>
          <a:xfrm>
            <a:off x="9052560" y="2743200"/>
            <a:ext cx="228600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Parent-grouped dev / test</a:t>
            </a:r>
            <a:endParaRPr lang="en-US" sz="1200" dirty="0"/>
          </a:p>
        </p:txBody>
      </p:sp>
      <p:sp>
        <p:nvSpPr>
          <p:cNvPr id="17" name="Shape 14"/>
          <p:cNvSpPr/>
          <p:nvPr/>
        </p:nvSpPr>
        <p:spPr>
          <a:xfrm>
            <a:off x="640080" y="3703320"/>
            <a:ext cx="384048" cy="384048"/>
          </a:xfrm>
          <a:prstGeom prst="ellipse">
            <a:avLst/>
          </a:prstGeom>
          <a:solidFill>
            <a:srgbClr val="1C2B52"/>
          </a:solidFill>
          <a:ln w="12700">
            <a:solidFill>
              <a:srgbClr val="1C2B52"/>
            </a:solidFill>
            <a:prstDash val="solid"/>
          </a:ln>
        </p:spPr>
        <p:txBody>
          <a:bodyPr/>
          <a:lstStyle/>
          <a:p>
            <a:endParaRPr lang="en-GB"/>
          </a:p>
        </p:txBody>
      </p:sp>
      <p:sp>
        <p:nvSpPr>
          <p:cNvPr id="18" name="Text 15"/>
          <p:cNvSpPr/>
          <p:nvPr/>
        </p:nvSpPr>
        <p:spPr>
          <a:xfrm>
            <a:off x="640080" y="3739896"/>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6"/>
          <p:cNvSpPr/>
          <p:nvPr/>
        </p:nvSpPr>
        <p:spPr>
          <a:xfrm>
            <a:off x="1170432" y="3685032"/>
            <a:ext cx="265176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Hierarchy preserved</a:t>
            </a:r>
            <a:endParaRPr lang="en-US" sz="1350" dirty="0"/>
          </a:p>
        </p:txBody>
      </p:sp>
      <p:sp>
        <p:nvSpPr>
          <p:cNvPr id="20" name="Text 17"/>
          <p:cNvSpPr/>
          <p:nvPr/>
        </p:nvSpPr>
        <p:spPr>
          <a:xfrm>
            <a:off x="3840480" y="3685032"/>
            <a:ext cx="7680960" cy="5029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Articles, annexes, recitals and guidance kept distinct; 5 instruments never collide.</a:t>
            </a:r>
            <a:endParaRPr lang="en-US" sz="1250" dirty="0"/>
          </a:p>
        </p:txBody>
      </p:sp>
      <p:sp>
        <p:nvSpPr>
          <p:cNvPr id="21" name="Shape 18"/>
          <p:cNvSpPr/>
          <p:nvPr/>
        </p:nvSpPr>
        <p:spPr>
          <a:xfrm>
            <a:off x="640080" y="4361688"/>
            <a:ext cx="384048" cy="384048"/>
          </a:xfrm>
          <a:prstGeom prst="ellipse">
            <a:avLst/>
          </a:prstGeom>
          <a:solidFill>
            <a:srgbClr val="1C2B52"/>
          </a:solidFill>
          <a:ln w="12700">
            <a:solidFill>
              <a:srgbClr val="1C2B52"/>
            </a:solidFill>
            <a:prstDash val="solid"/>
          </a:ln>
        </p:spPr>
        <p:txBody>
          <a:bodyPr/>
          <a:lstStyle/>
          <a:p>
            <a:endParaRPr lang="en-GB"/>
          </a:p>
        </p:txBody>
      </p:sp>
      <p:sp>
        <p:nvSpPr>
          <p:cNvPr id="22" name="Text 19"/>
          <p:cNvSpPr/>
          <p:nvPr/>
        </p:nvSpPr>
        <p:spPr>
          <a:xfrm>
            <a:off x="640080" y="4398264"/>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p:nvPr/>
        </p:nvSpPr>
        <p:spPr>
          <a:xfrm>
            <a:off x="1170432" y="4343400"/>
            <a:ext cx="265176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Grouped splitting</a:t>
            </a:r>
            <a:endParaRPr lang="en-US" sz="1350" dirty="0"/>
          </a:p>
        </p:txBody>
      </p:sp>
      <p:sp>
        <p:nvSpPr>
          <p:cNvPr id="24" name="Text 21"/>
          <p:cNvSpPr/>
          <p:nvPr/>
        </p:nvSpPr>
        <p:spPr>
          <a:xfrm>
            <a:off x="3840480" y="4343400"/>
            <a:ext cx="7680960" cy="5029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Partitioned by legal parent, not by question ID. Zero parent leakage.</a:t>
            </a:r>
            <a:endParaRPr lang="en-US" sz="1250" dirty="0"/>
          </a:p>
        </p:txBody>
      </p:sp>
      <p:sp>
        <p:nvSpPr>
          <p:cNvPr id="25" name="Shape 22"/>
          <p:cNvSpPr/>
          <p:nvPr/>
        </p:nvSpPr>
        <p:spPr>
          <a:xfrm>
            <a:off x="640080" y="5020056"/>
            <a:ext cx="384048" cy="384048"/>
          </a:xfrm>
          <a:prstGeom prst="ellipse">
            <a:avLst/>
          </a:prstGeom>
          <a:solidFill>
            <a:srgbClr val="1C2B52"/>
          </a:solidFill>
          <a:ln w="12700">
            <a:solidFill>
              <a:srgbClr val="1C2B52"/>
            </a:solidFill>
            <a:prstDash val="solid"/>
          </a:ln>
        </p:spPr>
        <p:txBody>
          <a:bodyPr/>
          <a:lstStyle/>
          <a:p>
            <a:endParaRPr lang="en-GB"/>
          </a:p>
        </p:txBody>
      </p:sp>
      <p:sp>
        <p:nvSpPr>
          <p:cNvPr id="26" name="Text 23"/>
          <p:cNvSpPr/>
          <p:nvPr/>
        </p:nvSpPr>
        <p:spPr>
          <a:xfrm>
            <a:off x="640080" y="5056632"/>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p:nvPr/>
        </p:nvSpPr>
        <p:spPr>
          <a:xfrm>
            <a:off x="1170432" y="5001768"/>
            <a:ext cx="265176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Evidence-linked gold</a:t>
            </a:r>
            <a:endParaRPr lang="en-US" sz="1350" dirty="0"/>
          </a:p>
        </p:txBody>
      </p:sp>
      <p:sp>
        <p:nvSpPr>
          <p:cNvPr id="28" name="Text 25"/>
          <p:cNvSpPr/>
          <p:nvPr/>
        </p:nvSpPr>
        <p:spPr>
          <a:xfrm>
            <a:off x="3840480" y="5001768"/>
            <a:ext cx="7680960" cy="5029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21 records corrected, 1 invalid record excluded, every record tied to child IDs.</a:t>
            </a:r>
            <a:endParaRPr lang="en-US" sz="1250" dirty="0"/>
          </a:p>
        </p:txBody>
      </p:sp>
      <p:sp>
        <p:nvSpPr>
          <p:cNvPr id="29" name="Shape 26"/>
          <p:cNvSpPr/>
          <p:nvPr/>
        </p:nvSpPr>
        <p:spPr>
          <a:xfrm>
            <a:off x="640080" y="5678424"/>
            <a:ext cx="384048" cy="384048"/>
          </a:xfrm>
          <a:prstGeom prst="ellipse">
            <a:avLst/>
          </a:prstGeom>
          <a:solidFill>
            <a:srgbClr val="1C2B52"/>
          </a:solidFill>
          <a:ln w="12700">
            <a:solidFill>
              <a:srgbClr val="1C2B52"/>
            </a:solidFill>
            <a:prstDash val="solid"/>
          </a:ln>
        </p:spPr>
        <p:txBody>
          <a:bodyPr/>
          <a:lstStyle/>
          <a:p>
            <a:endParaRPr lang="en-GB"/>
          </a:p>
        </p:txBody>
      </p:sp>
      <p:sp>
        <p:nvSpPr>
          <p:cNvPr id="30" name="Text 27"/>
          <p:cNvSpPr/>
          <p:nvPr/>
        </p:nvSpPr>
        <p:spPr>
          <a:xfrm>
            <a:off x="640080" y="5715000"/>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8"/>
          <p:cNvSpPr/>
          <p:nvPr/>
        </p:nvSpPr>
        <p:spPr>
          <a:xfrm>
            <a:off x="1170432" y="5660136"/>
            <a:ext cx="265176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Deterministic rebuild</a:t>
            </a:r>
            <a:endParaRPr lang="en-US" sz="1350" dirty="0"/>
          </a:p>
        </p:txBody>
      </p:sp>
      <p:sp>
        <p:nvSpPr>
          <p:cNvPr id="32" name="Text 29"/>
          <p:cNvSpPr/>
          <p:nvPr/>
        </p:nvSpPr>
        <p:spPr>
          <a:xfrm>
            <a:off x="3840480" y="5660136"/>
            <a:ext cx="7680960" cy="5029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SHA-256 lineage; a second independent build produced identical bytes.</a:t>
            </a:r>
            <a:endParaRPr lang="en-US" sz="1250" dirty="0"/>
          </a:p>
        </p:txBody>
      </p:sp>
      <p:sp>
        <p:nvSpPr>
          <p:cNvPr id="33" name="Text 30"/>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Candidate benchmark — independent review pending. Figures are not final claims.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RETRIEVAL — HELD-OUT TEST SET</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Neither channel alone reaches the evidence</a:t>
            </a:r>
            <a:endParaRPr lang="en-US" sz="3200" dirty="0"/>
          </a:p>
        </p:txBody>
      </p:sp>
      <p:pic>
        <p:nvPicPr>
          <p:cNvPr id="4" name="Image 0" descr="preencoded.png"/>
          <p:cNvPicPr>
            <a:picLocks noChangeAspect="1"/>
          </p:cNvPicPr>
          <p:nvPr/>
        </p:nvPicPr>
        <p:blipFill>
          <a:blip r:embed="rId4"/>
          <a:stretch>
            <a:fillRect/>
          </a:stretch>
        </p:blipFill>
        <p:spPr>
          <a:xfrm>
            <a:off x="10469880" y="384048"/>
            <a:ext cx="1051560" cy="329184"/>
          </a:xfrm>
          <a:prstGeom prst="rect">
            <a:avLst/>
          </a:prstGeom>
        </p:spPr>
      </p:pic>
      <p:graphicFrame>
        <p:nvGraphicFramePr>
          <p:cNvPr id="5" name="Chart 0"/>
          <p:cNvGraphicFramePr/>
          <p:nvPr/>
        </p:nvGraphicFramePr>
        <p:xfrm>
          <a:off x="640080" y="1783080"/>
          <a:ext cx="7406640" cy="3794760"/>
        </p:xfrm>
        <a:graphic>
          <a:graphicData uri="http://schemas.openxmlformats.org/drawingml/2006/chart">
            <c:chart xmlns:c="http://schemas.openxmlformats.org/drawingml/2006/chart" xmlns:r="http://schemas.openxmlformats.org/officeDocument/2006/relationships" r:id="rId5"/>
          </a:graphicData>
        </a:graphic>
      </p:graphicFrame>
      <p:sp>
        <p:nvSpPr>
          <p:cNvPr id="6" name="Shape 2"/>
          <p:cNvSpPr/>
          <p:nvPr/>
        </p:nvSpPr>
        <p:spPr>
          <a:xfrm>
            <a:off x="8366760" y="1783080"/>
            <a:ext cx="3154680" cy="1737360"/>
          </a:xfrm>
          <a:prstGeom prst="roundRect">
            <a:avLst>
              <a:gd name="adj" fmla="val 4211"/>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7" name="Text 3"/>
          <p:cNvSpPr/>
          <p:nvPr/>
        </p:nvSpPr>
        <p:spPr>
          <a:xfrm>
            <a:off x="8595360" y="1965960"/>
            <a:ext cx="2743200" cy="640080"/>
          </a:xfrm>
          <a:prstGeom prst="rect">
            <a:avLst/>
          </a:prstGeom>
          <a:noFill/>
          <a:ln/>
        </p:spPr>
        <p:txBody>
          <a:bodyPr wrap="square" lIns="0" tIns="0" rIns="0" bIns="0" rtlCol="0" anchor="ctr"/>
          <a:lstStyle/>
          <a:p>
            <a:pPr marL="0" indent="0">
              <a:buNone/>
            </a:pPr>
            <a:r>
              <a:rPr lang="en-US" sz="3600" b="1" dirty="0">
                <a:solidFill>
                  <a:srgbClr val="B5922A"/>
                </a:solidFill>
                <a:latin typeface="Cambria" pitchFamily="34" charset="0"/>
                <a:ea typeface="Cambria" pitchFamily="34" charset="-122"/>
                <a:cs typeface="Cambria" pitchFamily="34" charset="-120"/>
              </a:rPr>
              <a:t>94.7%</a:t>
            </a:r>
            <a:endParaRPr lang="en-US" sz="3600" dirty="0"/>
          </a:p>
        </p:txBody>
      </p:sp>
      <p:sp>
        <p:nvSpPr>
          <p:cNvPr id="8" name="Text 4"/>
          <p:cNvSpPr/>
          <p:nvPr/>
        </p:nvSpPr>
        <p:spPr>
          <a:xfrm>
            <a:off x="8595360" y="2606040"/>
            <a:ext cx="2697480" cy="777240"/>
          </a:xfrm>
          <a:prstGeom prst="rect">
            <a:avLst/>
          </a:prstGeom>
          <a:noFill/>
          <a:ln/>
        </p:spPr>
        <p:txBody>
          <a:bodyPr wrap="square" lIns="0" tIns="0" rIns="0" bIns="0" rtlCol="0" anchor="ctr"/>
          <a:lstStyle/>
          <a:p>
            <a:pPr marL="0" indent="0">
              <a:buNone/>
            </a:pPr>
            <a:r>
              <a:rPr lang="en-US" sz="1200" dirty="0">
                <a:solidFill>
                  <a:srgbClr val="C9D3E8"/>
                </a:solidFill>
                <a:latin typeface="Calibri" pitchFamily="34" charset="0"/>
                <a:ea typeface="Calibri" pitchFamily="34" charset="-122"/>
                <a:cs typeface="Calibri" pitchFamily="34" charset="-120"/>
              </a:rPr>
              <a:t>Hybrid finds selected evidence for 54 of 57 test questions at k = 20</a:t>
            </a:r>
            <a:endParaRPr lang="en-US" sz="1200" dirty="0"/>
          </a:p>
        </p:txBody>
      </p:sp>
      <p:sp>
        <p:nvSpPr>
          <p:cNvPr id="9" name="Text 5"/>
          <p:cNvSpPr/>
          <p:nvPr/>
        </p:nvSpPr>
        <p:spPr>
          <a:xfrm>
            <a:off x="8366760" y="3703320"/>
            <a:ext cx="3154680" cy="274320"/>
          </a:xfrm>
          <a:prstGeom prst="rect">
            <a:avLst/>
          </a:prstGeom>
          <a:noFill/>
          <a:ln/>
        </p:spPr>
        <p:txBody>
          <a:bodyPr wrap="square" lIns="0" tIns="0" rIns="0" bIns="0" rtlCol="0" anchor="ctr"/>
          <a:lstStyle/>
          <a:p>
            <a:pPr marL="0" indent="0">
              <a:buNone/>
            </a:pPr>
            <a:r>
              <a:rPr lang="en-US" sz="1200" b="1" dirty="0">
                <a:solidFill>
                  <a:srgbClr val="B5922A"/>
                </a:solidFill>
                <a:latin typeface="Calibri" pitchFamily="34" charset="0"/>
                <a:ea typeface="Calibri" pitchFamily="34" charset="-122"/>
                <a:cs typeface="Calibri" pitchFamily="34" charset="-120"/>
              </a:rPr>
              <a:t>Why both channels</a:t>
            </a:r>
            <a:endParaRPr lang="en-US" sz="1200" dirty="0"/>
          </a:p>
        </p:txBody>
      </p:sp>
      <p:sp>
        <p:nvSpPr>
          <p:cNvPr id="10" name="Text 6"/>
          <p:cNvSpPr/>
          <p:nvPr/>
        </p:nvSpPr>
        <p:spPr>
          <a:xfrm>
            <a:off x="8458200" y="4023360"/>
            <a:ext cx="3063240" cy="17373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BM25 wins on article numbers, acronyms and repeated legal wording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Dense wins on paraphrase with no shared vocabulary</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Fusion is equal-weight, constant fixed at 60, never tuned on test</a:t>
            </a:r>
            <a:endParaRPr lang="en-US" sz="1150" dirty="0"/>
          </a:p>
        </p:txBody>
      </p:sp>
      <p:sp>
        <p:nvSpPr>
          <p:cNvPr id="11" name="Text 7"/>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Held-out test split, n = 57. Candidate figures — independent benchmark review pending.</a:t>
            </a:r>
            <a:endParaRPr lang="en-US" sz="950" dirty="0"/>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RERANKING</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Reranking turns candidates into a usable context</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graphicFrame>
        <p:nvGraphicFramePr>
          <p:cNvPr id="5" name="Chart 0"/>
          <p:cNvGraphicFramePr/>
          <p:nvPr/>
        </p:nvGraphicFramePr>
        <p:xfrm>
          <a:off x="640080" y="1783080"/>
          <a:ext cx="69494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909560" y="1783080"/>
            <a:ext cx="361188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7" name="Text 3"/>
          <p:cNvSpPr/>
          <p:nvPr/>
        </p:nvSpPr>
        <p:spPr>
          <a:xfrm>
            <a:off x="8092440" y="1929384"/>
            <a:ext cx="3246120" cy="685800"/>
          </a:xfrm>
          <a:prstGeom prst="rect">
            <a:avLst/>
          </a:prstGeom>
          <a:noFill/>
          <a:ln/>
        </p:spPr>
        <p:txBody>
          <a:bodyPr wrap="square" lIns="0" tIns="0" rIns="0" bIns="0" rtlCol="0" anchor="ctr"/>
          <a:lstStyle/>
          <a:p>
            <a:pPr marL="0" indent="0" algn="l">
              <a:buNone/>
            </a:pPr>
            <a:r>
              <a:rPr lang="en-US" sz="4000" b="1" dirty="0">
                <a:solidFill>
                  <a:srgbClr val="B5922A"/>
                </a:solidFill>
                <a:latin typeface="Cambria" pitchFamily="34" charset="0"/>
                <a:ea typeface="Cambria" pitchFamily="34" charset="-122"/>
                <a:cs typeface="Cambria" pitchFamily="34" charset="-120"/>
              </a:rPr>
              <a:t>50.9 → 66.7%</a:t>
            </a:r>
            <a:endParaRPr lang="en-US" sz="4000" dirty="0"/>
          </a:p>
        </p:txBody>
      </p:sp>
      <p:sp>
        <p:nvSpPr>
          <p:cNvPr id="8" name="Text 4"/>
          <p:cNvSpPr/>
          <p:nvPr/>
        </p:nvSpPr>
        <p:spPr>
          <a:xfrm>
            <a:off x="8092440" y="2651760"/>
            <a:ext cx="324612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Top-1 accuracy after reranking</a:t>
            </a:r>
            <a:endParaRPr lang="en-US" sz="1200" dirty="0"/>
          </a:p>
        </p:txBody>
      </p:sp>
      <p:sp>
        <p:nvSpPr>
          <p:cNvPr id="9" name="Shape 5"/>
          <p:cNvSpPr/>
          <p:nvPr/>
        </p:nvSpPr>
        <p:spPr>
          <a:xfrm>
            <a:off x="7909560" y="3337560"/>
            <a:ext cx="361188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0" name="Text 6"/>
          <p:cNvSpPr/>
          <p:nvPr/>
        </p:nvSpPr>
        <p:spPr>
          <a:xfrm>
            <a:off x="8092440" y="3483864"/>
            <a:ext cx="324612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87.7%</a:t>
            </a:r>
            <a:endParaRPr lang="en-US" sz="4000" dirty="0"/>
          </a:p>
        </p:txBody>
      </p:sp>
      <p:sp>
        <p:nvSpPr>
          <p:cNvPr id="11" name="Text 7"/>
          <p:cNvSpPr/>
          <p:nvPr/>
        </p:nvSpPr>
        <p:spPr>
          <a:xfrm>
            <a:off x="8092440" y="4206240"/>
            <a:ext cx="324612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Evidence inside a 5-source context</a:t>
            </a:r>
            <a:endParaRPr lang="en-US" sz="1200" dirty="0"/>
          </a:p>
        </p:txBody>
      </p:sp>
      <p:sp>
        <p:nvSpPr>
          <p:cNvPr id="12" name="Shape 8"/>
          <p:cNvSpPr/>
          <p:nvPr/>
        </p:nvSpPr>
        <p:spPr>
          <a:xfrm>
            <a:off x="7909560" y="4892040"/>
            <a:ext cx="3611880" cy="1051560"/>
          </a:xfrm>
          <a:prstGeom prst="roundRect">
            <a:avLst>
              <a:gd name="adj" fmla="val 6957"/>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3" name="Text 9"/>
          <p:cNvSpPr/>
          <p:nvPr/>
        </p:nvSpPr>
        <p:spPr>
          <a:xfrm>
            <a:off x="8138160" y="5074920"/>
            <a:ext cx="3200400" cy="731520"/>
          </a:xfrm>
          <a:prstGeom prst="rect">
            <a:avLst/>
          </a:prstGeom>
          <a:noFill/>
          <a:ln/>
        </p:spPr>
        <p:txBody>
          <a:bodyPr wrap="square" lIns="0" tIns="0" rIns="0" bIns="0" rtlCol="0" anchor="ctr"/>
          <a:lstStyle/>
          <a:p>
            <a:pPr marL="0" indent="0">
              <a:buNone/>
            </a:pPr>
            <a:r>
              <a:rPr lang="en-US" sz="1250" b="1" dirty="0">
                <a:solidFill>
                  <a:srgbClr val="1C2B52"/>
                </a:solidFill>
                <a:latin typeface="Calibri" pitchFamily="34" charset="0"/>
                <a:ea typeface="Calibri" pitchFamily="34" charset="-122"/>
                <a:cs typeface="Calibri" pitchFamily="34" charset="-120"/>
              </a:rPr>
              <a:t>A reranker repairs ordering. It cannot recover evidence that was never in the pool.</a:t>
            </a:r>
            <a:endParaRPr lang="en-US" sz="1250" dirty="0"/>
          </a:p>
        </p:txBody>
      </p:sp>
      <p:sp>
        <p:nvSpPr>
          <p:cNvPr id="14" name="Text 10"/>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22.7M-parameter MiniLM cross-encoder, 1,980 pairs scored locally on GPU. No project text sent to a hosted endpoint.</a:t>
            </a:r>
            <a:endParaRPr lang="en-US" sz="950" dirty="0"/>
          </a:p>
        </p:txBody>
      </p:sp>
      <p:sp>
        <p:nvSpPr>
          <p:cNvPr id="15" name="TextBox 14">
            <a:extLst>
              <a:ext uri="{FF2B5EF4-FFF2-40B4-BE49-F238E27FC236}">
                <a16:creationId xmlns:a16="http://schemas.microsoft.com/office/drawing/2014/main" id="{A439FEEA-45BD-C5D8-9904-64223A2CE75A}"/>
              </a:ext>
            </a:extLst>
          </p:cNvPr>
          <p:cNvSpPr txBox="1"/>
          <p:nvPr/>
        </p:nvSpPr>
        <p:spPr>
          <a:xfrm>
            <a:off x="6717323" y="1261979"/>
            <a:ext cx="4695091" cy="646331"/>
          </a:xfrm>
          <a:prstGeom prst="rect">
            <a:avLst/>
          </a:prstGeom>
          <a:noFill/>
        </p:spPr>
        <p:txBody>
          <a:bodyPr wrap="square" rtlCol="0">
            <a:spAutoFit/>
          </a:bodyPr>
          <a:lstStyle/>
          <a:p>
            <a:r>
              <a:rPr lang="fr-FR" dirty="0"/>
              <a:t>Why choose yellow color?</a:t>
            </a:r>
          </a:p>
          <a:p>
            <a:r>
              <a:rPr lang="fr-FR" dirty="0"/>
              <a:t>What does it mean Top-1 accuracy?</a:t>
            </a:r>
            <a:endParaRPr lang="en-GB" dirty="0"/>
          </a:p>
        </p:txBody>
      </p:sp>
      <p:sp>
        <p:nvSpPr>
          <p:cNvPr id="16" name="TextBox 15">
            <a:extLst>
              <a:ext uri="{FF2B5EF4-FFF2-40B4-BE49-F238E27FC236}">
                <a16:creationId xmlns:a16="http://schemas.microsoft.com/office/drawing/2014/main" id="{9CA67F3C-B909-4C37-CF89-E25E62612EA9}"/>
              </a:ext>
            </a:extLst>
          </p:cNvPr>
          <p:cNvSpPr txBox="1"/>
          <p:nvPr/>
        </p:nvSpPr>
        <p:spPr>
          <a:xfrm>
            <a:off x="10169769" y="3241431"/>
            <a:ext cx="1671711" cy="1200329"/>
          </a:xfrm>
          <a:prstGeom prst="rect">
            <a:avLst/>
          </a:prstGeom>
          <a:noFill/>
        </p:spPr>
        <p:txBody>
          <a:bodyPr wrap="square" rtlCol="0">
            <a:spAutoFit/>
          </a:bodyPr>
          <a:lstStyle/>
          <a:p>
            <a:r>
              <a:rPr lang="fr-FR" dirty="0"/>
              <a:t>Isn’t it better to just say that we doubled our results</a:t>
            </a:r>
            <a:endParaRPr lang="en-GB" dirty="0"/>
          </a:p>
        </p:txBody>
      </p:sp>
      <p:sp>
        <p:nvSpPr>
          <p:cNvPr id="17" name="TextBox 16">
            <a:extLst>
              <a:ext uri="{FF2B5EF4-FFF2-40B4-BE49-F238E27FC236}">
                <a16:creationId xmlns:a16="http://schemas.microsoft.com/office/drawing/2014/main" id="{AE20C8CE-C215-5DC6-7589-F60CD7782FDF}"/>
              </a:ext>
            </a:extLst>
          </p:cNvPr>
          <p:cNvSpPr txBox="1"/>
          <p:nvPr/>
        </p:nvSpPr>
        <p:spPr>
          <a:xfrm>
            <a:off x="589672" y="5547919"/>
            <a:ext cx="4597790" cy="646331"/>
          </a:xfrm>
          <a:prstGeom prst="rect">
            <a:avLst/>
          </a:prstGeom>
          <a:noFill/>
        </p:spPr>
        <p:txBody>
          <a:bodyPr wrap="square" rtlCol="0">
            <a:spAutoFit/>
          </a:bodyPr>
          <a:lstStyle/>
          <a:p>
            <a:r>
              <a:rPr lang="fr-FR" dirty="0"/>
              <a:t>Why are the results the same at k=20?</a:t>
            </a:r>
          </a:p>
          <a:p>
            <a:r>
              <a:rPr lang="fr-FR" dirty="0"/>
              <a:t>#delete the k=20 </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CENTRAL FINDING</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Three remaining misses are three different problems</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Text 2"/>
          <p:cNvSpPr/>
          <p:nvPr/>
        </p:nvSpPr>
        <p:spPr>
          <a:xfrm>
            <a:off x="640080" y="1691640"/>
            <a:ext cx="10881360" cy="32004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Reporting them as one “system ceiling” would be a measurement error, not a finding.</a:t>
            </a:r>
            <a:endParaRPr lang="en-US" sz="1400" dirty="0"/>
          </a:p>
        </p:txBody>
      </p:sp>
      <p:sp>
        <p:nvSpPr>
          <p:cNvPr id="6" name="Shape 3"/>
          <p:cNvSpPr/>
          <p:nvPr/>
        </p:nvSpPr>
        <p:spPr>
          <a:xfrm>
            <a:off x="640080" y="2240280"/>
            <a:ext cx="3429000" cy="3063240"/>
          </a:xfrm>
          <a:prstGeom prst="roundRect">
            <a:avLst>
              <a:gd name="adj" fmla="val 2388"/>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7" name="Text 4"/>
          <p:cNvSpPr/>
          <p:nvPr/>
        </p:nvSpPr>
        <p:spPr>
          <a:xfrm>
            <a:off x="896112" y="2450592"/>
            <a:ext cx="2926080" cy="292608"/>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QA_0063</a:t>
            </a:r>
            <a:endParaRPr lang="en-US" sz="1200" dirty="0"/>
          </a:p>
        </p:txBody>
      </p:sp>
      <p:sp>
        <p:nvSpPr>
          <p:cNvPr id="8" name="Text 5"/>
          <p:cNvSpPr/>
          <p:nvPr/>
        </p:nvSpPr>
        <p:spPr>
          <a:xfrm>
            <a:off x="896112" y="2761488"/>
            <a:ext cx="2926080" cy="566928"/>
          </a:xfrm>
          <a:prstGeom prst="rect">
            <a:avLst/>
          </a:prstGeom>
          <a:noFill/>
          <a:ln/>
        </p:spPr>
        <p:txBody>
          <a:bodyPr wrap="square" lIns="0" tIns="0" rIns="0" bIns="0" rtlCol="0" anchor="ctr"/>
          <a:lstStyle/>
          <a:p>
            <a:pPr marL="0" indent="0">
              <a:buNone/>
            </a:pPr>
            <a:r>
              <a:rPr lang="en-US" sz="1900" b="1" dirty="0">
                <a:solidFill>
                  <a:srgbClr val="1C2B52"/>
                </a:solidFill>
                <a:latin typeface="Cambria" pitchFamily="34" charset="0"/>
                <a:ea typeface="Cambria" pitchFamily="34" charset="-122"/>
                <a:cs typeface="Cambria" pitchFamily="34" charset="-120"/>
              </a:rPr>
              <a:t>Clarify</a:t>
            </a:r>
            <a:endParaRPr lang="en-US" sz="1900" dirty="0"/>
          </a:p>
        </p:txBody>
      </p:sp>
      <p:sp>
        <p:nvSpPr>
          <p:cNvPr id="9" name="Text 6"/>
          <p:cNvSpPr/>
          <p:nvPr/>
        </p:nvSpPr>
        <p:spPr>
          <a:xfrm>
            <a:off x="896112" y="3346704"/>
            <a:ext cx="2926080" cy="11430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“What exceptions?” is too broad — several real exception provisions compete for the answer.</a:t>
            </a:r>
            <a:endParaRPr lang="en-US" sz="1200" dirty="0"/>
          </a:p>
        </p:txBody>
      </p:sp>
      <p:sp>
        <p:nvSpPr>
          <p:cNvPr id="10" name="Shape 7"/>
          <p:cNvSpPr/>
          <p:nvPr/>
        </p:nvSpPr>
        <p:spPr>
          <a:xfrm>
            <a:off x="896112" y="4590288"/>
            <a:ext cx="2926080" cy="18288"/>
          </a:xfrm>
          <a:prstGeom prst="rect">
            <a:avLst/>
          </a:prstGeom>
          <a:solidFill>
            <a:srgbClr val="D5DCE8"/>
          </a:solidFill>
          <a:ln w="12700">
            <a:solidFill>
              <a:srgbClr val="D5DCE8"/>
            </a:solidFill>
            <a:prstDash val="solid"/>
          </a:ln>
        </p:spPr>
        <p:txBody>
          <a:bodyPr/>
          <a:lstStyle/>
          <a:p>
            <a:endParaRPr lang="en-GB"/>
          </a:p>
        </p:txBody>
      </p:sp>
      <p:sp>
        <p:nvSpPr>
          <p:cNvPr id="11" name="Text 8"/>
          <p:cNvSpPr/>
          <p:nvPr/>
        </p:nvSpPr>
        <p:spPr>
          <a:xfrm>
            <a:off x="896112" y="4709160"/>
            <a:ext cx="2926080" cy="457200"/>
          </a:xfrm>
          <a:prstGeom prst="rect">
            <a:avLst/>
          </a:prstGeom>
          <a:noFill/>
          <a:ln/>
        </p:spPr>
        <p:txBody>
          <a:bodyPr wrap="square" lIns="0" tIns="0" rIns="0" bIns="0" rtlCol="0" anchor="ctr"/>
          <a:lstStyle/>
          <a:p>
            <a:pPr marL="0" indent="0">
              <a:buNone/>
            </a:pPr>
            <a:r>
              <a:rPr lang="en-US" sz="1200" b="1" dirty="0">
                <a:solidFill>
                  <a:srgbClr val="B5922A"/>
                </a:solidFill>
                <a:latin typeface="Calibri" pitchFamily="34" charset="0"/>
                <a:ea typeface="Calibri" pitchFamily="34" charset="-122"/>
                <a:cs typeface="Calibri" pitchFamily="34" charset="-120"/>
              </a:rPr>
              <a:t>The question is ambiguous.</a:t>
            </a:r>
            <a:endParaRPr lang="en-US" sz="1200" dirty="0"/>
          </a:p>
        </p:txBody>
      </p:sp>
      <p:sp>
        <p:nvSpPr>
          <p:cNvPr id="12" name="Shape 9"/>
          <p:cNvSpPr/>
          <p:nvPr/>
        </p:nvSpPr>
        <p:spPr>
          <a:xfrm>
            <a:off x="4343400" y="2240280"/>
            <a:ext cx="3429000" cy="3063240"/>
          </a:xfrm>
          <a:prstGeom prst="roundRect">
            <a:avLst>
              <a:gd name="adj" fmla="val 2388"/>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3" name="Text 10"/>
          <p:cNvSpPr/>
          <p:nvPr/>
        </p:nvSpPr>
        <p:spPr>
          <a:xfrm>
            <a:off x="4599432" y="2450592"/>
            <a:ext cx="2926080" cy="292608"/>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QA_0080</a:t>
            </a:r>
            <a:endParaRPr lang="en-US" sz="1200" dirty="0"/>
          </a:p>
        </p:txBody>
      </p:sp>
      <p:sp>
        <p:nvSpPr>
          <p:cNvPr id="14" name="Text 11"/>
          <p:cNvSpPr/>
          <p:nvPr/>
        </p:nvSpPr>
        <p:spPr>
          <a:xfrm>
            <a:off x="4599432" y="2761488"/>
            <a:ext cx="2926080" cy="566928"/>
          </a:xfrm>
          <a:prstGeom prst="rect">
            <a:avLst/>
          </a:prstGeom>
          <a:noFill/>
          <a:ln/>
        </p:spPr>
        <p:txBody>
          <a:bodyPr wrap="square" lIns="0" tIns="0" rIns="0" bIns="0" rtlCol="0" anchor="ctr"/>
          <a:lstStyle/>
          <a:p>
            <a:pPr marL="0" indent="0">
              <a:buNone/>
            </a:pPr>
            <a:r>
              <a:rPr lang="en-US" sz="1900" b="1" dirty="0">
                <a:solidFill>
                  <a:srgbClr val="1C2B52"/>
                </a:solidFill>
                <a:latin typeface="Cambria" pitchFamily="34" charset="0"/>
                <a:ea typeface="Cambria" pitchFamily="34" charset="-122"/>
                <a:cs typeface="Cambria" pitchFamily="34" charset="-120"/>
              </a:rPr>
              <a:t>Repair the gold label</a:t>
            </a:r>
            <a:endParaRPr lang="en-US" sz="1900" dirty="0"/>
          </a:p>
        </p:txBody>
      </p:sp>
      <p:sp>
        <p:nvSpPr>
          <p:cNvPr id="15" name="Text 12"/>
          <p:cNvSpPr/>
          <p:nvPr/>
        </p:nvSpPr>
        <p:spPr>
          <a:xfrm>
            <a:off x="4599432" y="3346704"/>
            <a:ext cx="2926080" cy="11430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Equivalent annex wording appears outside the single selected child.</a:t>
            </a:r>
            <a:endParaRPr lang="en-US" sz="1200" dirty="0"/>
          </a:p>
        </p:txBody>
      </p:sp>
      <p:sp>
        <p:nvSpPr>
          <p:cNvPr id="16" name="Shape 13"/>
          <p:cNvSpPr/>
          <p:nvPr/>
        </p:nvSpPr>
        <p:spPr>
          <a:xfrm>
            <a:off x="4599432" y="4590288"/>
            <a:ext cx="2926080" cy="18288"/>
          </a:xfrm>
          <a:prstGeom prst="rect">
            <a:avLst/>
          </a:prstGeom>
          <a:solidFill>
            <a:srgbClr val="D5DCE8"/>
          </a:solidFill>
          <a:ln w="12700">
            <a:solidFill>
              <a:srgbClr val="D5DCE8"/>
            </a:solidFill>
            <a:prstDash val="solid"/>
          </a:ln>
        </p:spPr>
        <p:txBody>
          <a:bodyPr/>
          <a:lstStyle/>
          <a:p>
            <a:endParaRPr lang="en-GB"/>
          </a:p>
        </p:txBody>
      </p:sp>
      <p:sp>
        <p:nvSpPr>
          <p:cNvPr id="17" name="Text 14"/>
          <p:cNvSpPr/>
          <p:nvPr/>
        </p:nvSpPr>
        <p:spPr>
          <a:xfrm>
            <a:off x="4599432" y="4709160"/>
            <a:ext cx="2926080" cy="457200"/>
          </a:xfrm>
          <a:prstGeom prst="rect">
            <a:avLst/>
          </a:prstGeom>
          <a:noFill/>
          <a:ln/>
        </p:spPr>
        <p:txBody>
          <a:bodyPr wrap="square" lIns="0" tIns="0" rIns="0" bIns="0" rtlCol="0" anchor="ctr"/>
          <a:lstStyle/>
          <a:p>
            <a:pPr marL="0" indent="0">
              <a:buNone/>
            </a:pPr>
            <a:r>
              <a:rPr lang="en-US" sz="1200" b="1" dirty="0">
                <a:solidFill>
                  <a:srgbClr val="B5922A"/>
                </a:solidFill>
                <a:latin typeface="Calibri" pitchFamily="34" charset="0"/>
                <a:ea typeface="Calibri" pitchFamily="34" charset="-122"/>
                <a:cs typeface="Calibri" pitchFamily="34" charset="-120"/>
              </a:rPr>
              <a:t>The benchmark is incomplete.</a:t>
            </a:r>
            <a:endParaRPr lang="en-US" sz="1200" dirty="0"/>
          </a:p>
        </p:txBody>
      </p:sp>
      <p:sp>
        <p:nvSpPr>
          <p:cNvPr id="18" name="Shape 15"/>
          <p:cNvSpPr/>
          <p:nvPr/>
        </p:nvSpPr>
        <p:spPr>
          <a:xfrm>
            <a:off x="8046720" y="2240280"/>
            <a:ext cx="3429000" cy="3063240"/>
          </a:xfrm>
          <a:prstGeom prst="roundRect">
            <a:avLst>
              <a:gd name="adj" fmla="val 2388"/>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9" name="Text 16"/>
          <p:cNvSpPr/>
          <p:nvPr/>
        </p:nvSpPr>
        <p:spPr>
          <a:xfrm>
            <a:off x="8302752" y="2450592"/>
            <a:ext cx="2926080" cy="292608"/>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QA_0176</a:t>
            </a:r>
            <a:endParaRPr lang="en-US" sz="1200" dirty="0"/>
          </a:p>
        </p:txBody>
      </p:sp>
      <p:sp>
        <p:nvSpPr>
          <p:cNvPr id="20" name="Text 17"/>
          <p:cNvSpPr/>
          <p:nvPr/>
        </p:nvSpPr>
        <p:spPr>
          <a:xfrm>
            <a:off x="8302752" y="2761488"/>
            <a:ext cx="2926080" cy="566928"/>
          </a:xfrm>
          <a:prstGeom prst="rect">
            <a:avLst/>
          </a:prstGeom>
          <a:noFill/>
          <a:ln/>
        </p:spPr>
        <p:txBody>
          <a:bodyPr wrap="square" lIns="0" tIns="0" rIns="0" bIns="0" rtlCol="0" anchor="ctr"/>
          <a:lstStyle/>
          <a:p>
            <a:pPr marL="0" indent="0">
              <a:buNone/>
            </a:pPr>
            <a:r>
              <a:rPr lang="en-US" sz="1900" b="1" dirty="0">
                <a:solidFill>
                  <a:srgbClr val="1C2B52"/>
                </a:solidFill>
                <a:latin typeface="Cambria" pitchFamily="34" charset="0"/>
                <a:ea typeface="Cambria" pitchFamily="34" charset="-122"/>
                <a:cs typeface="Cambria" pitchFamily="34" charset="-120"/>
              </a:rPr>
              <a:t>Improve retrieval</a:t>
            </a:r>
            <a:endParaRPr lang="en-US" sz="1900" dirty="0"/>
          </a:p>
        </p:txBody>
      </p:sp>
      <p:sp>
        <p:nvSpPr>
          <p:cNvPr id="21" name="Text 18"/>
          <p:cNvSpPr/>
          <p:nvPr/>
        </p:nvSpPr>
        <p:spPr>
          <a:xfrm>
            <a:off x="8302752" y="3346704"/>
            <a:ext cx="2926080" cy="11430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A broad paraphrase does not uniquely identify the intended guidance evidence.</a:t>
            </a:r>
            <a:endParaRPr lang="en-US" sz="1200" dirty="0"/>
          </a:p>
        </p:txBody>
      </p:sp>
      <p:sp>
        <p:nvSpPr>
          <p:cNvPr id="22" name="Shape 19"/>
          <p:cNvSpPr/>
          <p:nvPr/>
        </p:nvSpPr>
        <p:spPr>
          <a:xfrm>
            <a:off x="8302752" y="4590288"/>
            <a:ext cx="2926080" cy="18288"/>
          </a:xfrm>
          <a:prstGeom prst="rect">
            <a:avLst/>
          </a:prstGeom>
          <a:solidFill>
            <a:srgbClr val="D5DCE8"/>
          </a:solidFill>
          <a:ln w="12700">
            <a:solidFill>
              <a:srgbClr val="D5DCE8"/>
            </a:solidFill>
            <a:prstDash val="solid"/>
          </a:ln>
        </p:spPr>
        <p:txBody>
          <a:bodyPr/>
          <a:lstStyle/>
          <a:p>
            <a:endParaRPr lang="en-GB"/>
          </a:p>
        </p:txBody>
      </p:sp>
      <p:sp>
        <p:nvSpPr>
          <p:cNvPr id="23" name="Text 20"/>
          <p:cNvSpPr/>
          <p:nvPr/>
        </p:nvSpPr>
        <p:spPr>
          <a:xfrm>
            <a:off x="8302752" y="4709160"/>
            <a:ext cx="2926080" cy="457200"/>
          </a:xfrm>
          <a:prstGeom prst="rect">
            <a:avLst/>
          </a:prstGeom>
          <a:noFill/>
          <a:ln/>
        </p:spPr>
        <p:txBody>
          <a:bodyPr wrap="square" lIns="0" tIns="0" rIns="0" bIns="0" rtlCol="0" anchor="ctr"/>
          <a:lstStyle/>
          <a:p>
            <a:pPr marL="0" indent="0">
              <a:buNone/>
            </a:pPr>
            <a:r>
              <a:rPr lang="en-US" sz="1200" b="1" dirty="0">
                <a:solidFill>
                  <a:srgbClr val="B5922A"/>
                </a:solidFill>
                <a:latin typeface="Calibri" pitchFamily="34" charset="0"/>
                <a:ea typeface="Calibri" pitchFamily="34" charset="-122"/>
                <a:cs typeface="Calibri" pitchFamily="34" charset="-120"/>
              </a:rPr>
              <a:t>A genuine retrieval failure.</a:t>
            </a:r>
            <a:endParaRPr lang="en-US" sz="1200" dirty="0"/>
          </a:p>
        </p:txBody>
      </p:sp>
      <p:sp>
        <p:nvSpPr>
          <p:cNvPr id="24" name="Text 21"/>
          <p:cNvSpPr/>
          <p:nvPr/>
        </p:nvSpPr>
        <p:spPr>
          <a:xfrm>
            <a:off x="640080" y="5577840"/>
            <a:ext cx="10881360" cy="36576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Independent review must separate false metric failures from real system failures before any ceiling is quoted.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VALIDITY GATE</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The benchmark cannot certify itself</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828800"/>
            <a:ext cx="5120640" cy="3931920"/>
          </a:xfrm>
          <a:prstGeom prst="roundRect">
            <a:avLst>
              <a:gd name="adj" fmla="val 1860"/>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960120" y="2057400"/>
            <a:ext cx="4480560" cy="274320"/>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The problem</a:t>
            </a:r>
            <a:endParaRPr lang="en-US" sz="1200" dirty="0"/>
          </a:p>
        </p:txBody>
      </p:sp>
      <p:sp>
        <p:nvSpPr>
          <p:cNvPr id="7" name="Text 4"/>
          <p:cNvSpPr/>
          <p:nvPr/>
        </p:nvSpPr>
        <p:spPr>
          <a:xfrm>
            <a:off x="960120" y="2377440"/>
            <a:ext cx="4480560" cy="777240"/>
          </a:xfrm>
          <a:prstGeom prst="rect">
            <a:avLst/>
          </a:prstGeom>
          <a:noFill/>
          <a:ln/>
        </p:spPr>
        <p:txBody>
          <a:bodyPr wrap="square" lIns="0" tIns="0" rIns="0" bIns="0" rtlCol="0" anchor="ctr"/>
          <a:lstStyle/>
          <a:p>
            <a:pPr marL="0" indent="0">
              <a:lnSpc>
                <a:spcPts val="2300"/>
              </a:lnSpc>
              <a:buNone/>
            </a:pPr>
            <a:r>
              <a:rPr lang="en-US" sz="1800" b="1" dirty="0">
                <a:solidFill>
                  <a:srgbClr val="FFFFFF"/>
                </a:solidFill>
                <a:latin typeface="Cambria" pitchFamily="34" charset="0"/>
                <a:ea typeface="Cambria" pitchFamily="34" charset="-122"/>
                <a:cs typeface="Cambria" pitchFamily="34" charset="-120"/>
              </a:rPr>
              <a:t>The same AI-assisted process that proposed the corrections cannot confirm them.</a:t>
            </a:r>
            <a:endParaRPr lang="en-US" sz="1800" dirty="0"/>
          </a:p>
        </p:txBody>
      </p:sp>
      <p:sp>
        <p:nvSpPr>
          <p:cNvPr id="8" name="Text 5"/>
          <p:cNvSpPr/>
          <p:nvPr/>
        </p:nvSpPr>
        <p:spPr>
          <a:xfrm>
            <a:off x="1051560" y="3291840"/>
            <a:ext cx="448056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C9D3E8"/>
                </a:solidFill>
                <a:latin typeface="Calibri" pitchFamily="34" charset="0"/>
                <a:ea typeface="Calibri" pitchFamily="34" charset="-122"/>
                <a:cs typeface="Calibri" pitchFamily="34" charset="-120"/>
              </a:rPr>
              <a:t>33 records: 22 audit exceptions, 3 residuals, 10 stratified controls</a:t>
            </a:r>
            <a:endParaRPr lang="en-US" sz="1250" dirty="0"/>
          </a:p>
          <a:p>
            <a:pPr marL="342900" indent="-342900">
              <a:spcAft>
                <a:spcPts val="800"/>
              </a:spcAft>
              <a:buSzPct val="100000"/>
              <a:buChar char="•"/>
            </a:pPr>
            <a:r>
              <a:rPr lang="en-US" sz="1250" dirty="0">
                <a:solidFill>
                  <a:srgbClr val="C9D3E8"/>
                </a:solidFill>
                <a:latin typeface="Calibri" pitchFamily="34" charset="0"/>
                <a:ea typeface="Calibri" pitchFamily="34" charset="-122"/>
                <a:cs typeface="Calibri" pitchFamily="34" charset="-120"/>
              </a:rPr>
              <a:t>Required IDs pinned to input hashes — the review cannot drift to another data version</a:t>
            </a:r>
            <a:endParaRPr lang="en-US" sz="1250" dirty="0"/>
          </a:p>
          <a:p>
            <a:pPr marL="342900" indent="-342900">
              <a:spcAft>
                <a:spcPts val="800"/>
              </a:spcAft>
              <a:buSzPct val="100000"/>
              <a:buChar char="•"/>
            </a:pPr>
            <a:r>
              <a:rPr lang="en-US" sz="1250" dirty="0">
                <a:solidFill>
                  <a:srgbClr val="C9D3E8"/>
                </a:solidFill>
                <a:latin typeface="Calibri" pitchFamily="34" charset="0"/>
                <a:ea typeface="Calibri" pitchFamily="34" charset="-122"/>
                <a:cs typeface="Calibri" pitchFamily="34" charset="-120"/>
              </a:rPr>
              <a:t>The freeze command refuses to run on an incomplete review</a:t>
            </a:r>
            <a:endParaRPr lang="en-US" sz="1250" dirty="0"/>
          </a:p>
        </p:txBody>
      </p:sp>
      <p:sp>
        <p:nvSpPr>
          <p:cNvPr id="9" name="Text 6"/>
          <p:cNvSpPr/>
          <p:nvPr/>
        </p:nvSpPr>
        <p:spPr>
          <a:xfrm>
            <a:off x="6126480" y="1828800"/>
            <a:ext cx="5394960" cy="320040"/>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The protocol, fixed before collection</a:t>
            </a:r>
            <a:endParaRPr lang="en-US" sz="1200" dirty="0"/>
          </a:p>
        </p:txBody>
      </p:sp>
      <p:sp>
        <p:nvSpPr>
          <p:cNvPr id="10" name="Shape 7"/>
          <p:cNvSpPr/>
          <p:nvPr/>
        </p:nvSpPr>
        <p:spPr>
          <a:xfrm>
            <a:off x="6126480" y="2286000"/>
            <a:ext cx="384048" cy="384048"/>
          </a:xfrm>
          <a:prstGeom prst="ellipse">
            <a:avLst/>
          </a:prstGeom>
          <a:solidFill>
            <a:srgbClr val="1C2B52"/>
          </a:solidFill>
          <a:ln w="12700">
            <a:solidFill>
              <a:srgbClr val="1C2B52"/>
            </a:solidFill>
            <a:prstDash val="solid"/>
          </a:ln>
        </p:spPr>
        <p:txBody>
          <a:bodyPr/>
          <a:lstStyle/>
          <a:p>
            <a:endParaRPr lang="en-GB"/>
          </a:p>
        </p:txBody>
      </p:sp>
      <p:sp>
        <p:nvSpPr>
          <p:cNvPr id="11" name="Text 8"/>
          <p:cNvSpPr/>
          <p:nvPr/>
        </p:nvSpPr>
        <p:spPr>
          <a:xfrm>
            <a:off x="6126480" y="2322576"/>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9"/>
          <p:cNvSpPr/>
          <p:nvPr/>
        </p:nvSpPr>
        <p:spPr>
          <a:xfrm>
            <a:off x="6656832" y="2258568"/>
            <a:ext cx="484632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Multi-reviewer panel</a:t>
            </a:r>
            <a:endParaRPr lang="en-US" sz="1350" dirty="0"/>
          </a:p>
        </p:txBody>
      </p:sp>
      <p:sp>
        <p:nvSpPr>
          <p:cNvPr id="13" name="Text 10"/>
          <p:cNvSpPr/>
          <p:nvPr/>
        </p:nvSpPr>
        <p:spPr>
          <a:xfrm>
            <a:off x="6656832" y="2542032"/>
            <a:ext cx="48463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Practising aviation professionals, not the author alone.</a:t>
            </a:r>
            <a:endParaRPr lang="en-US" sz="1200" dirty="0"/>
          </a:p>
        </p:txBody>
      </p:sp>
      <p:sp>
        <p:nvSpPr>
          <p:cNvPr id="14" name="Shape 11"/>
          <p:cNvSpPr/>
          <p:nvPr/>
        </p:nvSpPr>
        <p:spPr>
          <a:xfrm>
            <a:off x="6126480" y="3154680"/>
            <a:ext cx="384048" cy="384048"/>
          </a:xfrm>
          <a:prstGeom prst="ellipse">
            <a:avLst/>
          </a:prstGeom>
          <a:solidFill>
            <a:srgbClr val="1C2B52"/>
          </a:solidFill>
          <a:ln w="12700">
            <a:solidFill>
              <a:srgbClr val="1C2B52"/>
            </a:solidFill>
            <a:prstDash val="solid"/>
          </a:ln>
        </p:spPr>
        <p:txBody>
          <a:bodyPr/>
          <a:lstStyle/>
          <a:p>
            <a:endParaRPr lang="en-GB"/>
          </a:p>
        </p:txBody>
      </p:sp>
      <p:sp>
        <p:nvSpPr>
          <p:cNvPr id="15" name="Text 12"/>
          <p:cNvSpPr/>
          <p:nvPr/>
        </p:nvSpPr>
        <p:spPr>
          <a:xfrm>
            <a:off x="6126480" y="3191256"/>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6656832" y="3127248"/>
            <a:ext cx="484632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Pre-registered rule</a:t>
            </a:r>
            <a:endParaRPr lang="en-US" sz="1350" dirty="0"/>
          </a:p>
        </p:txBody>
      </p:sp>
      <p:sp>
        <p:nvSpPr>
          <p:cNvPr id="17" name="Text 14"/>
          <p:cNvSpPr/>
          <p:nvPr/>
        </p:nvSpPr>
        <p:spPr>
          <a:xfrm>
            <a:off x="6656832" y="3410712"/>
            <a:ext cx="48463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Minimum two raters; strict majority on the decision and all four checks.</a:t>
            </a:r>
            <a:endParaRPr lang="en-US" sz="1200" dirty="0"/>
          </a:p>
        </p:txBody>
      </p:sp>
      <p:sp>
        <p:nvSpPr>
          <p:cNvPr id="18" name="Shape 15"/>
          <p:cNvSpPr/>
          <p:nvPr/>
        </p:nvSpPr>
        <p:spPr>
          <a:xfrm>
            <a:off x="6126480" y="4023360"/>
            <a:ext cx="384048" cy="384048"/>
          </a:xfrm>
          <a:prstGeom prst="ellipse">
            <a:avLst/>
          </a:prstGeom>
          <a:solidFill>
            <a:srgbClr val="1C2B52"/>
          </a:solidFill>
          <a:ln w="12700">
            <a:solidFill>
              <a:srgbClr val="1C2B52"/>
            </a:solidFill>
            <a:prstDash val="solid"/>
          </a:ln>
        </p:spPr>
        <p:txBody>
          <a:bodyPr/>
          <a:lstStyle/>
          <a:p>
            <a:endParaRPr lang="en-GB"/>
          </a:p>
        </p:txBody>
      </p:sp>
      <p:sp>
        <p:nvSpPr>
          <p:cNvPr id="19" name="Text 16"/>
          <p:cNvSpPr/>
          <p:nvPr/>
        </p:nvSpPr>
        <p:spPr>
          <a:xfrm>
            <a:off x="6126480" y="4059936"/>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6656832" y="3995928"/>
            <a:ext cx="484632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Corrections stay with me</a:t>
            </a:r>
            <a:endParaRPr lang="en-US" sz="1350" dirty="0"/>
          </a:p>
        </p:txBody>
      </p:sp>
      <p:sp>
        <p:nvSpPr>
          <p:cNvPr id="21" name="Text 18"/>
          <p:cNvSpPr/>
          <p:nvPr/>
        </p:nvSpPr>
        <p:spPr>
          <a:xfrm>
            <a:off x="6656832" y="4279392"/>
            <a:ext cx="48463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The panel flags a problem; a multiple-choice form never writes gold data.</a:t>
            </a:r>
            <a:endParaRPr lang="en-US" sz="1200" dirty="0"/>
          </a:p>
        </p:txBody>
      </p:sp>
      <p:sp>
        <p:nvSpPr>
          <p:cNvPr id="22" name="Shape 19"/>
          <p:cNvSpPr/>
          <p:nvPr/>
        </p:nvSpPr>
        <p:spPr>
          <a:xfrm>
            <a:off x="6126480" y="4892040"/>
            <a:ext cx="384048" cy="384048"/>
          </a:xfrm>
          <a:prstGeom prst="ellipse">
            <a:avLst/>
          </a:prstGeom>
          <a:solidFill>
            <a:srgbClr val="1C2B52"/>
          </a:solidFill>
          <a:ln w="12700">
            <a:solidFill>
              <a:srgbClr val="1C2B52"/>
            </a:solidFill>
            <a:prstDash val="solid"/>
          </a:ln>
        </p:spPr>
        <p:txBody>
          <a:bodyPr/>
          <a:lstStyle/>
          <a:p>
            <a:endParaRPr lang="en-GB"/>
          </a:p>
        </p:txBody>
      </p:sp>
      <p:sp>
        <p:nvSpPr>
          <p:cNvPr id="23" name="Text 20"/>
          <p:cNvSpPr/>
          <p:nvPr/>
        </p:nvSpPr>
        <p:spPr>
          <a:xfrm>
            <a:off x="6126480" y="4928616"/>
            <a:ext cx="384048"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6656832" y="4864608"/>
            <a:ext cx="4846320" cy="274320"/>
          </a:xfrm>
          <a:prstGeom prst="rect">
            <a:avLst/>
          </a:prstGeom>
          <a:noFill/>
          <a:ln/>
        </p:spPr>
        <p:txBody>
          <a:bodyPr wrap="square" lIns="0" tIns="0" rIns="0" bIns="0" rtlCol="0" anchor="ctr"/>
          <a:lstStyle/>
          <a:p>
            <a:pPr marL="0" indent="0">
              <a:buNone/>
            </a:pPr>
            <a:r>
              <a:rPr lang="en-US" sz="1350" b="1" dirty="0">
                <a:solidFill>
                  <a:srgbClr val="1C2B52"/>
                </a:solidFill>
                <a:latin typeface="Calibri" pitchFamily="34" charset="0"/>
                <a:ea typeface="Calibri" pitchFamily="34" charset="-122"/>
                <a:cs typeface="Calibri" pitchFamily="34" charset="-120"/>
              </a:rPr>
              <a:t>Agreement is reported</a:t>
            </a:r>
            <a:endParaRPr lang="en-US" sz="1350" dirty="0"/>
          </a:p>
        </p:txBody>
      </p:sp>
      <p:sp>
        <p:nvSpPr>
          <p:cNvPr id="25" name="Text 22"/>
          <p:cNvSpPr/>
          <p:nvPr/>
        </p:nvSpPr>
        <p:spPr>
          <a:xfrm>
            <a:off x="6656832" y="5148072"/>
            <a:ext cx="48463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Cohen's or Fleiss' κ, plus every contested record listed individually.</a:t>
            </a:r>
            <a:endParaRPr lang="en-US" sz="1200" dirty="0"/>
          </a:p>
        </p:txBody>
      </p:sp>
      <p:sp>
        <p:nvSpPr>
          <p:cNvPr id="26" name="Text 23"/>
          <p:cNvSpPr/>
          <p:nvPr/>
        </p:nvSpPr>
        <p:spPr>
          <a:xfrm>
            <a:off x="640080" y="5943600"/>
            <a:ext cx="10881360" cy="365760"/>
          </a:xfrm>
          <a:prstGeom prst="rect">
            <a:avLst/>
          </a:prstGeom>
          <a:noFill/>
          <a:ln/>
        </p:spPr>
        <p:txBody>
          <a:bodyPr wrap="square" lIns="0" tIns="0" rIns="0" bIns="0" rtlCol="0" anchor="ctr"/>
          <a:lstStyle/>
          <a:p>
            <a:pPr marL="0" indent="0">
              <a:buNone/>
            </a:pPr>
            <a:r>
              <a:rPr lang="en-US" sz="1400" b="1" i="1" dirty="0">
                <a:solidFill>
                  <a:srgbClr val="B5922A"/>
                </a:solidFill>
                <a:latin typeface="Cambria" pitchFamily="34" charset="0"/>
                <a:ea typeface="Cambria" pitchFamily="34" charset="-122"/>
                <a:cs typeface="Cambria" pitchFamily="34" charset="-120"/>
              </a:rPr>
              <a:t>Disagreement between qualified reviewers is a result, not noise — it identifies the ambiguous questions.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VALIDITY GATE — RESULTS TO 30 JULY</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First returns: the protocol works, and it already found things</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783080"/>
            <a:ext cx="246888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822960" y="1929384"/>
            <a:ext cx="210312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2</a:t>
            </a:r>
            <a:endParaRPr lang="en-US" sz="4000" dirty="0"/>
          </a:p>
        </p:txBody>
      </p:sp>
      <p:sp>
        <p:nvSpPr>
          <p:cNvPr id="7" name="Text 4"/>
          <p:cNvSpPr/>
          <p:nvPr/>
        </p:nvSpPr>
        <p:spPr>
          <a:xfrm>
            <a:off x="822960" y="2651760"/>
            <a:ext cx="210312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Reviewers, both 10+ years in aviation</a:t>
            </a:r>
            <a:endParaRPr lang="en-US" sz="1200" dirty="0"/>
          </a:p>
        </p:txBody>
      </p:sp>
      <p:sp>
        <p:nvSpPr>
          <p:cNvPr id="8" name="Shape 5"/>
          <p:cNvSpPr/>
          <p:nvPr/>
        </p:nvSpPr>
        <p:spPr>
          <a:xfrm>
            <a:off x="3337560" y="1783080"/>
            <a:ext cx="246888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9" name="Text 6"/>
          <p:cNvSpPr/>
          <p:nvPr/>
        </p:nvSpPr>
        <p:spPr>
          <a:xfrm>
            <a:off x="3520440" y="1929384"/>
            <a:ext cx="210312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27 / 33</a:t>
            </a:r>
            <a:endParaRPr lang="en-US" sz="4000" dirty="0"/>
          </a:p>
        </p:txBody>
      </p:sp>
      <p:sp>
        <p:nvSpPr>
          <p:cNvPr id="10" name="Text 7"/>
          <p:cNvSpPr/>
          <p:nvPr/>
        </p:nvSpPr>
        <p:spPr>
          <a:xfrm>
            <a:off x="3520440" y="2651760"/>
            <a:ext cx="210312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Records rated at least once</a:t>
            </a:r>
            <a:endParaRPr lang="en-US" sz="1200" dirty="0"/>
          </a:p>
        </p:txBody>
      </p:sp>
      <p:sp>
        <p:nvSpPr>
          <p:cNvPr id="11" name="Shape 8"/>
          <p:cNvSpPr/>
          <p:nvPr/>
        </p:nvSpPr>
        <p:spPr>
          <a:xfrm>
            <a:off x="6035040" y="1783080"/>
            <a:ext cx="246888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2" name="Text 9"/>
          <p:cNvSpPr/>
          <p:nvPr/>
        </p:nvSpPr>
        <p:spPr>
          <a:xfrm>
            <a:off x="6217920" y="1929384"/>
            <a:ext cx="210312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7</a:t>
            </a:r>
            <a:endParaRPr lang="en-US" sz="4000" dirty="0"/>
          </a:p>
        </p:txBody>
      </p:sp>
      <p:sp>
        <p:nvSpPr>
          <p:cNvPr id="13" name="Text 10"/>
          <p:cNvSpPr/>
          <p:nvPr/>
        </p:nvSpPr>
        <p:spPr>
          <a:xfrm>
            <a:off x="6217920" y="2651760"/>
            <a:ext cx="210312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Records rated twice — the overlap</a:t>
            </a:r>
            <a:endParaRPr lang="en-US" sz="1200" dirty="0"/>
          </a:p>
        </p:txBody>
      </p:sp>
      <p:sp>
        <p:nvSpPr>
          <p:cNvPr id="14" name="Shape 11"/>
          <p:cNvSpPr/>
          <p:nvPr/>
        </p:nvSpPr>
        <p:spPr>
          <a:xfrm>
            <a:off x="8732520" y="1783080"/>
            <a:ext cx="278892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5" name="Text 12"/>
          <p:cNvSpPr/>
          <p:nvPr/>
        </p:nvSpPr>
        <p:spPr>
          <a:xfrm>
            <a:off x="8915400" y="1929384"/>
            <a:ext cx="2423160" cy="685800"/>
          </a:xfrm>
          <a:prstGeom prst="rect">
            <a:avLst/>
          </a:prstGeom>
          <a:noFill/>
          <a:ln/>
        </p:spPr>
        <p:txBody>
          <a:bodyPr wrap="square" lIns="0" tIns="0" rIns="0" bIns="0" rtlCol="0" anchor="ctr"/>
          <a:lstStyle/>
          <a:p>
            <a:pPr marL="0" indent="0" algn="l">
              <a:buNone/>
            </a:pPr>
            <a:r>
              <a:rPr lang="en-US" sz="4000" b="1" dirty="0">
                <a:solidFill>
                  <a:srgbClr val="B5922A"/>
                </a:solidFill>
                <a:latin typeface="Cambria" pitchFamily="34" charset="0"/>
                <a:ea typeface="Cambria" pitchFamily="34" charset="-122"/>
                <a:cs typeface="Cambria" pitchFamily="34" charset="-120"/>
              </a:rPr>
              <a:t>κ = 0.32</a:t>
            </a:r>
            <a:endParaRPr lang="en-US" sz="4000" dirty="0"/>
          </a:p>
        </p:txBody>
      </p:sp>
      <p:sp>
        <p:nvSpPr>
          <p:cNvPr id="16" name="Text 13"/>
          <p:cNvSpPr/>
          <p:nvPr/>
        </p:nvSpPr>
        <p:spPr>
          <a:xfrm>
            <a:off x="8915400" y="2651760"/>
            <a:ext cx="242316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Fair agreement, n = 7</a:t>
            </a:r>
            <a:endParaRPr lang="en-US" sz="1200" dirty="0"/>
          </a:p>
        </p:txBody>
      </p:sp>
      <p:sp>
        <p:nvSpPr>
          <p:cNvPr id="17" name="Shape 14"/>
          <p:cNvSpPr/>
          <p:nvPr/>
        </p:nvSpPr>
        <p:spPr>
          <a:xfrm>
            <a:off x="640080" y="3429000"/>
            <a:ext cx="5349240" cy="2331720"/>
          </a:xfrm>
          <a:prstGeom prst="roundRect">
            <a:avLst>
              <a:gd name="adj" fmla="val 3137"/>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18" name="Text 15"/>
          <p:cNvSpPr/>
          <p:nvPr/>
        </p:nvSpPr>
        <p:spPr>
          <a:xfrm>
            <a:off x="914400" y="3611880"/>
            <a:ext cx="4800600" cy="320040"/>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QA_0063 confirmed</a:t>
            </a:r>
            <a:endParaRPr lang="en-US" sz="1200" dirty="0"/>
          </a:p>
        </p:txBody>
      </p:sp>
      <p:sp>
        <p:nvSpPr>
          <p:cNvPr id="19" name="Text 16"/>
          <p:cNvSpPr/>
          <p:nvPr/>
        </p:nvSpPr>
        <p:spPr>
          <a:xfrm>
            <a:off x="914400" y="3950208"/>
            <a:ext cx="4800600" cy="548640"/>
          </a:xfrm>
          <a:prstGeom prst="rect">
            <a:avLst/>
          </a:prstGeom>
          <a:noFill/>
          <a:ln/>
        </p:spPr>
        <p:txBody>
          <a:bodyPr wrap="square" lIns="0" tIns="0" rIns="0" bIns="0" rtlCol="0" anchor="ctr"/>
          <a:lstStyle/>
          <a:p>
            <a:pPr marL="0" indent="0">
              <a:lnSpc>
                <a:spcPts val="2300"/>
              </a:lnSpc>
              <a:buNone/>
            </a:pPr>
            <a:r>
              <a:rPr lang="en-US" sz="1800" b="1" dirty="0">
                <a:solidFill>
                  <a:srgbClr val="FFFFFF"/>
                </a:solidFill>
                <a:latin typeface="Cambria" pitchFamily="34" charset="0"/>
                <a:ea typeface="Cambria" pitchFamily="34" charset="-122"/>
                <a:cs typeface="Cambria" pitchFamily="34" charset="-120"/>
              </a:rPr>
              <a:t>Both reviewers independently voted to exclude it.</a:t>
            </a:r>
            <a:endParaRPr lang="en-US" sz="1800" dirty="0"/>
          </a:p>
        </p:txBody>
      </p:sp>
      <p:sp>
        <p:nvSpPr>
          <p:cNvPr id="20" name="Text 17"/>
          <p:cNvSpPr/>
          <p:nvPr/>
        </p:nvSpPr>
        <p:spPr>
          <a:xfrm>
            <a:off x="914400" y="4617720"/>
            <a:ext cx="4800600" cy="1005840"/>
          </a:xfrm>
          <a:prstGeom prst="rect">
            <a:avLst/>
          </a:prstGeom>
          <a:noFill/>
          <a:ln/>
        </p:spPr>
        <p:txBody>
          <a:bodyPr wrap="square" lIns="0" tIns="0" rIns="0" bIns="0" rtlCol="0" anchor="ctr"/>
          <a:lstStyle/>
          <a:p>
            <a:pPr marL="0" indent="0">
              <a:buNone/>
            </a:pPr>
            <a:r>
              <a:rPr lang="en-US" sz="1200" dirty="0">
                <a:solidFill>
                  <a:srgbClr val="C9D3E8"/>
                </a:solidFill>
                <a:latin typeface="Calibri" pitchFamily="34" charset="0"/>
                <a:ea typeface="Calibri" pitchFamily="34" charset="-122"/>
                <a:cs typeface="Calibri" pitchFamily="34" charset="-120"/>
              </a:rPr>
              <a:t>I argued from internal evidence that this question was ambiguous. Two aviation professionals reached the same conclusion without being told the hypothesis.</a:t>
            </a:r>
            <a:endParaRPr lang="en-US" sz="1200" dirty="0"/>
          </a:p>
        </p:txBody>
      </p:sp>
      <p:sp>
        <p:nvSpPr>
          <p:cNvPr id="21" name="Text 18"/>
          <p:cNvSpPr/>
          <p:nvPr/>
        </p:nvSpPr>
        <p:spPr>
          <a:xfrm>
            <a:off x="6309360" y="3429000"/>
            <a:ext cx="5212080" cy="292608"/>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An unplanned finding</a:t>
            </a:r>
            <a:endParaRPr lang="en-US" sz="1200" dirty="0"/>
          </a:p>
        </p:txBody>
      </p:sp>
      <p:sp>
        <p:nvSpPr>
          <p:cNvPr id="22" name="Text 19"/>
          <p:cNvSpPr/>
          <p:nvPr/>
        </p:nvSpPr>
        <p:spPr>
          <a:xfrm>
            <a:off x="6309360" y="3749040"/>
            <a:ext cx="5212080" cy="685800"/>
          </a:xfrm>
          <a:prstGeom prst="rect">
            <a:avLst/>
          </a:prstGeom>
          <a:noFill/>
          <a:ln/>
        </p:spPr>
        <p:txBody>
          <a:bodyPr wrap="square" lIns="0" tIns="0" rIns="0" bIns="0" rtlCol="0" anchor="ctr"/>
          <a:lstStyle/>
          <a:p>
            <a:pPr marL="0" indent="0">
              <a:lnSpc>
                <a:spcPts val="2100"/>
              </a:lnSpc>
              <a:buNone/>
            </a:pPr>
            <a:r>
              <a:rPr lang="en-US" sz="1600" b="1" dirty="0">
                <a:solidFill>
                  <a:srgbClr val="1C2B52"/>
                </a:solidFill>
                <a:latin typeface="Cambria" pitchFamily="34" charset="0"/>
                <a:ea typeface="Cambria" pitchFamily="34" charset="-122"/>
                <a:cs typeface="Cambria" pitchFamily="34" charset="-120"/>
              </a:rPr>
              <a:t>Six records drew the same reaction: the citation label itself is unreadable to a practitioner.</a:t>
            </a:r>
            <a:endParaRPr lang="en-US" sz="1600" dirty="0"/>
          </a:p>
        </p:txBody>
      </p:sp>
      <p:sp>
        <p:nvSpPr>
          <p:cNvPr id="23" name="Text 20"/>
          <p:cNvSpPr/>
          <p:nvPr/>
        </p:nvSpPr>
        <p:spPr>
          <a:xfrm>
            <a:off x="6309360" y="4526280"/>
            <a:ext cx="5212080" cy="868680"/>
          </a:xfrm>
          <a:prstGeom prst="rect">
            <a:avLst/>
          </a:prstGeom>
          <a:noFill/>
          <a:ln/>
        </p:spPr>
        <p:txBody>
          <a:bodyPr wrap="square" lIns="0" tIns="0" rIns="0" bIns="0" rtlCol="0" anchor="ctr"/>
          <a:lstStyle/>
          <a:p>
            <a:pPr marL="0" indent="0">
              <a:spcAft>
                <a:spcPts val="300"/>
              </a:spcAft>
              <a:buNone/>
            </a:pPr>
            <a:r>
              <a:rPr lang="en-US" sz="1250" i="1" dirty="0">
                <a:solidFill>
                  <a:srgbClr val="6B7280"/>
                </a:solidFill>
                <a:latin typeface="Calibri" pitchFamily="34" charset="0"/>
                <a:ea typeface="Calibri" pitchFamily="34" charset="-122"/>
                <a:cs typeface="Calibri" pitchFamily="34" charset="-120"/>
              </a:rPr>
              <a:t>“GM 3.1 = ?”   ·   “GM 4.2 = ?”</a:t>
            </a:r>
            <a:endParaRPr lang="en-US" sz="1250" dirty="0"/>
          </a:p>
          <a:p>
            <a:pPr marL="0" indent="0">
              <a:spcAft>
                <a:spcPts val="300"/>
              </a:spcAft>
              <a:buNone/>
            </a:pPr>
            <a:r>
              <a:rPr lang="en-US" sz="1250" i="1" dirty="0">
                <a:solidFill>
                  <a:srgbClr val="6B7280"/>
                </a:solidFill>
                <a:latin typeface="Calibri" pitchFamily="34" charset="0"/>
                <a:ea typeface="Calibri" pitchFamily="34" charset="-122"/>
                <a:cs typeface="Calibri" pitchFamily="34" charset="-120"/>
              </a:rPr>
              <a:t>“what do you mean by section 2.2?”</a:t>
            </a:r>
            <a:endParaRPr lang="en-US" sz="1250" dirty="0"/>
          </a:p>
          <a:p>
            <a:pPr marL="0" indent="0">
              <a:spcAft>
                <a:spcPts val="300"/>
              </a:spcAft>
              <a:buNone/>
            </a:pPr>
            <a:r>
              <a:rPr lang="en-US" sz="1250" i="1" dirty="0">
                <a:solidFill>
                  <a:srgbClr val="6B7280"/>
                </a:solidFill>
                <a:latin typeface="Calibri" pitchFamily="34" charset="0"/>
                <a:ea typeface="Calibri" pitchFamily="34" charset="-122"/>
                <a:cs typeface="Calibri" pitchFamily="34" charset="-120"/>
              </a:rPr>
              <a:t>“what do you mean by Annex II, item 3.14?”</a:t>
            </a:r>
            <a:endParaRPr lang="en-US" sz="1250" dirty="0"/>
          </a:p>
        </p:txBody>
      </p:sp>
      <p:sp>
        <p:nvSpPr>
          <p:cNvPr id="24" name="Text 21"/>
          <p:cNvSpPr/>
          <p:nvPr/>
        </p:nvSpPr>
        <p:spPr>
          <a:xfrm>
            <a:off x="6309360" y="5440680"/>
            <a:ext cx="5212080" cy="502920"/>
          </a:xfrm>
          <a:prstGeom prst="rect">
            <a:avLst/>
          </a:prstGeom>
          <a:noFill/>
          <a:ln/>
        </p:spPr>
        <p:txBody>
          <a:bodyPr wrap="square" lIns="0" tIns="0" rIns="0" bIns="0"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This is a defect in my citation formatting, not in individual records — and no internal metric would have surfaced it.</a:t>
            </a:r>
            <a:endParaRPr lang="en-US" sz="1250" dirty="0"/>
          </a:p>
        </p:txBody>
      </p:sp>
      <p:sp>
        <p:nvSpPr>
          <p:cNvPr id="25" name="Text 22"/>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Reviewers pseudonymised. Agreement computed on the 7 records rated by both — indicative at this n, not a stable estimate.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THE PROPOSED POLICY</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Escalate only when the current evidence justifies it</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783080"/>
            <a:ext cx="10881360" cy="603504"/>
          </a:xfrm>
          <a:prstGeom prst="roundRect">
            <a:avLst>
              <a:gd name="adj" fmla="val 1212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868680" y="1911096"/>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0–1</a:t>
            </a:r>
            <a:endParaRPr lang="en-US" sz="1700" dirty="0"/>
          </a:p>
        </p:txBody>
      </p:sp>
      <p:sp>
        <p:nvSpPr>
          <p:cNvPr id="7" name="Text 4"/>
          <p:cNvSpPr/>
          <p:nvPr/>
        </p:nvSpPr>
        <p:spPr>
          <a:xfrm>
            <a:off x="1737360" y="1938528"/>
            <a:ext cx="3931920" cy="320040"/>
          </a:xfrm>
          <a:prstGeom prst="rect">
            <a:avLst/>
          </a:prstGeom>
          <a:noFill/>
          <a:ln/>
        </p:spPr>
        <p:txBody>
          <a:bodyPr wrap="square" lIns="0" tIns="0" rIns="0" bIns="0" rtlCol="0" anchor="ctr"/>
          <a:lstStyle/>
          <a:p>
            <a:pPr marL="0" indent="0">
              <a:buNone/>
            </a:pPr>
            <a:r>
              <a:rPr lang="en-US" sz="1400" b="1" dirty="0">
                <a:solidFill>
                  <a:srgbClr val="1C2B52"/>
                </a:solidFill>
                <a:latin typeface="Calibri" pitchFamily="34" charset="0"/>
                <a:ea typeface="Calibri" pitchFamily="34" charset="-122"/>
                <a:cs typeface="Calibri" pitchFamily="34" charset="-120"/>
              </a:rPr>
              <a:t>Hierarchy-aware retrieval</a:t>
            </a:r>
            <a:endParaRPr lang="en-US" sz="1400" dirty="0"/>
          </a:p>
        </p:txBody>
      </p:sp>
      <p:sp>
        <p:nvSpPr>
          <p:cNvPr id="8" name="Text 5"/>
          <p:cNvSpPr/>
          <p:nvPr/>
        </p:nvSpPr>
        <p:spPr>
          <a:xfrm>
            <a:off x="5760720" y="1956816"/>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Default after corpus repair</a:t>
            </a:r>
            <a:endParaRPr lang="en-US" sz="1200" dirty="0"/>
          </a:p>
        </p:txBody>
      </p:sp>
      <p:sp>
        <p:nvSpPr>
          <p:cNvPr id="9" name="Shape 6"/>
          <p:cNvSpPr/>
          <p:nvPr/>
        </p:nvSpPr>
        <p:spPr>
          <a:xfrm>
            <a:off x="640080" y="2496312"/>
            <a:ext cx="10881360" cy="603504"/>
          </a:xfrm>
          <a:prstGeom prst="roundRect">
            <a:avLst>
              <a:gd name="adj" fmla="val 1212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0" name="Text 7"/>
          <p:cNvSpPr/>
          <p:nvPr/>
        </p:nvSpPr>
        <p:spPr>
          <a:xfrm>
            <a:off x="868680" y="2624328"/>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2</a:t>
            </a:r>
            <a:endParaRPr lang="en-US" sz="1700" dirty="0"/>
          </a:p>
        </p:txBody>
      </p:sp>
      <p:sp>
        <p:nvSpPr>
          <p:cNvPr id="11" name="Text 8"/>
          <p:cNvSpPr/>
          <p:nvPr/>
        </p:nvSpPr>
        <p:spPr>
          <a:xfrm>
            <a:off x="1737360" y="2651760"/>
            <a:ext cx="3931920" cy="320040"/>
          </a:xfrm>
          <a:prstGeom prst="rect">
            <a:avLst/>
          </a:prstGeom>
          <a:noFill/>
          <a:ln/>
        </p:spPr>
        <p:txBody>
          <a:bodyPr wrap="square" lIns="0" tIns="0" rIns="0" bIns="0" rtlCol="0" anchor="ctr"/>
          <a:lstStyle/>
          <a:p>
            <a:pPr marL="0" indent="0">
              <a:buNone/>
            </a:pPr>
            <a:r>
              <a:rPr lang="en-US" sz="1400" b="1" dirty="0">
                <a:solidFill>
                  <a:srgbClr val="1C2B52"/>
                </a:solidFill>
                <a:latin typeface="Calibri" pitchFamily="34" charset="0"/>
                <a:ea typeface="Calibri" pitchFamily="34" charset="-122"/>
                <a:cs typeface="Calibri" pitchFamily="34" charset="-120"/>
              </a:rPr>
              <a:t>Hybrid candidates, top-20</a:t>
            </a:r>
            <a:endParaRPr lang="en-US" sz="1400" dirty="0"/>
          </a:p>
        </p:txBody>
      </p:sp>
      <p:sp>
        <p:nvSpPr>
          <p:cNvPr id="12" name="Text 9"/>
          <p:cNvSpPr/>
          <p:nvPr/>
        </p:nvSpPr>
        <p:spPr>
          <a:xfrm>
            <a:off x="5760720" y="2670048"/>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Low fused score or channel disagreement</a:t>
            </a:r>
            <a:endParaRPr lang="en-US" sz="1200" dirty="0"/>
          </a:p>
        </p:txBody>
      </p:sp>
      <p:sp>
        <p:nvSpPr>
          <p:cNvPr id="13" name="Shape 10"/>
          <p:cNvSpPr/>
          <p:nvPr/>
        </p:nvSpPr>
        <p:spPr>
          <a:xfrm>
            <a:off x="640080" y="3209544"/>
            <a:ext cx="10881360" cy="603504"/>
          </a:xfrm>
          <a:prstGeom prst="roundRect">
            <a:avLst>
              <a:gd name="adj" fmla="val 1212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4" name="Text 11"/>
          <p:cNvSpPr/>
          <p:nvPr/>
        </p:nvSpPr>
        <p:spPr>
          <a:xfrm>
            <a:off x="868680" y="3337560"/>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3</a:t>
            </a:r>
            <a:endParaRPr lang="en-US" sz="1700" dirty="0"/>
          </a:p>
        </p:txBody>
      </p:sp>
      <p:sp>
        <p:nvSpPr>
          <p:cNvPr id="15" name="Text 12"/>
          <p:cNvSpPr/>
          <p:nvPr/>
        </p:nvSpPr>
        <p:spPr>
          <a:xfrm>
            <a:off x="1737360" y="3364992"/>
            <a:ext cx="3931920" cy="320040"/>
          </a:xfrm>
          <a:prstGeom prst="rect">
            <a:avLst/>
          </a:prstGeom>
          <a:noFill/>
          <a:ln/>
        </p:spPr>
        <p:txBody>
          <a:bodyPr wrap="square" lIns="0" tIns="0" rIns="0" bIns="0" rtlCol="0" anchor="ctr"/>
          <a:lstStyle/>
          <a:p>
            <a:pPr marL="0" indent="0">
              <a:buNone/>
            </a:pPr>
            <a:r>
              <a:rPr lang="en-US" sz="1400" b="1" dirty="0">
                <a:solidFill>
                  <a:srgbClr val="1C2B52"/>
                </a:solidFill>
                <a:latin typeface="Calibri" pitchFamily="34" charset="0"/>
                <a:ea typeface="Calibri" pitchFamily="34" charset="-122"/>
                <a:cs typeface="Calibri" pitchFamily="34" charset="-120"/>
              </a:rPr>
              <a:t>Cross-encoder reranking to ~5</a:t>
            </a:r>
            <a:endParaRPr lang="en-US" sz="1400" dirty="0"/>
          </a:p>
        </p:txBody>
      </p:sp>
      <p:sp>
        <p:nvSpPr>
          <p:cNvPr id="16" name="Text 13"/>
          <p:cNvSpPr/>
          <p:nvPr/>
        </p:nvSpPr>
        <p:spPr>
          <a:xfrm>
            <a:off x="5760720" y="3383280"/>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Small margin between top candidates</a:t>
            </a:r>
            <a:endParaRPr lang="en-US" sz="1200" dirty="0"/>
          </a:p>
        </p:txBody>
      </p:sp>
      <p:sp>
        <p:nvSpPr>
          <p:cNvPr id="17" name="Shape 14"/>
          <p:cNvSpPr/>
          <p:nvPr/>
        </p:nvSpPr>
        <p:spPr>
          <a:xfrm>
            <a:off x="640080" y="3922776"/>
            <a:ext cx="10881360" cy="603504"/>
          </a:xfrm>
          <a:prstGeom prst="roundRect">
            <a:avLst>
              <a:gd name="adj" fmla="val 1212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8" name="Text 15"/>
          <p:cNvSpPr/>
          <p:nvPr/>
        </p:nvSpPr>
        <p:spPr>
          <a:xfrm>
            <a:off x="868680" y="4050792"/>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4</a:t>
            </a:r>
            <a:endParaRPr lang="en-US" sz="1700" dirty="0"/>
          </a:p>
        </p:txBody>
      </p:sp>
      <p:sp>
        <p:nvSpPr>
          <p:cNvPr id="19" name="Text 16"/>
          <p:cNvSpPr/>
          <p:nvPr/>
        </p:nvSpPr>
        <p:spPr>
          <a:xfrm>
            <a:off x="1737360" y="4078224"/>
            <a:ext cx="3931920" cy="320040"/>
          </a:xfrm>
          <a:prstGeom prst="rect">
            <a:avLst/>
          </a:prstGeom>
          <a:noFill/>
          <a:ln/>
        </p:spPr>
        <p:txBody>
          <a:bodyPr wrap="square" lIns="0" tIns="0" rIns="0" bIns="0" rtlCol="0" anchor="ctr"/>
          <a:lstStyle/>
          <a:p>
            <a:pPr marL="0" indent="0">
              <a:buNone/>
            </a:pPr>
            <a:r>
              <a:rPr lang="en-US" sz="1400" b="1" dirty="0">
                <a:solidFill>
                  <a:srgbClr val="1C2B52"/>
                </a:solidFill>
                <a:latin typeface="Calibri" pitchFamily="34" charset="0"/>
                <a:ea typeface="Calibri" pitchFamily="34" charset="-122"/>
                <a:cs typeface="Calibri" pitchFamily="34" charset="-120"/>
              </a:rPr>
              <a:t>Evidence-constrained generation</a:t>
            </a:r>
            <a:endParaRPr lang="en-US" sz="1400" dirty="0"/>
          </a:p>
        </p:txBody>
      </p:sp>
      <p:sp>
        <p:nvSpPr>
          <p:cNvPr id="20" name="Text 17"/>
          <p:cNvSpPr/>
          <p:nvPr/>
        </p:nvSpPr>
        <p:spPr>
          <a:xfrm>
            <a:off x="5760720" y="4096512"/>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Source IDs, verbatim quotes, no model-written citations</a:t>
            </a:r>
            <a:endParaRPr lang="en-US" sz="1200" dirty="0"/>
          </a:p>
        </p:txBody>
      </p:sp>
      <p:sp>
        <p:nvSpPr>
          <p:cNvPr id="21" name="Shape 18"/>
          <p:cNvSpPr/>
          <p:nvPr/>
        </p:nvSpPr>
        <p:spPr>
          <a:xfrm>
            <a:off x="640080" y="4636008"/>
            <a:ext cx="10881360" cy="603504"/>
          </a:xfrm>
          <a:prstGeom prst="roundRect">
            <a:avLst>
              <a:gd name="adj" fmla="val 12121"/>
            </a:avLst>
          </a:prstGeom>
          <a:solidFill>
            <a:srgbClr val="E8E2CD"/>
          </a:solidFill>
          <a:ln w="12700">
            <a:solidFill>
              <a:srgbClr val="E8E2CD"/>
            </a:solidFill>
            <a:prstDash val="solid"/>
          </a:ln>
          <a:effectLst>
            <a:outerShdw blurRad="101600" dist="12700" dir="5400000" algn="bl" rotWithShape="0">
              <a:srgbClr val="8899BB">
                <a:alpha val="18000"/>
              </a:srgbClr>
            </a:outerShdw>
          </a:effectLst>
        </p:spPr>
        <p:txBody>
          <a:bodyPr/>
          <a:lstStyle/>
          <a:p>
            <a:endParaRPr lang="en-GB"/>
          </a:p>
        </p:txBody>
      </p:sp>
      <p:sp>
        <p:nvSpPr>
          <p:cNvPr id="22" name="Text 19"/>
          <p:cNvSpPr/>
          <p:nvPr/>
        </p:nvSpPr>
        <p:spPr>
          <a:xfrm>
            <a:off x="868680" y="4764024"/>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5</a:t>
            </a:r>
            <a:endParaRPr lang="en-US" sz="1700" dirty="0"/>
          </a:p>
        </p:txBody>
      </p:sp>
      <p:sp>
        <p:nvSpPr>
          <p:cNvPr id="23" name="Text 20"/>
          <p:cNvSpPr/>
          <p:nvPr/>
        </p:nvSpPr>
        <p:spPr>
          <a:xfrm>
            <a:off x="1737360" y="4791456"/>
            <a:ext cx="3931920" cy="320040"/>
          </a:xfrm>
          <a:prstGeom prst="rect">
            <a:avLst/>
          </a:prstGeom>
          <a:noFill/>
          <a:ln/>
        </p:spPr>
        <p:txBody>
          <a:bodyPr wrap="square" lIns="0" tIns="0" rIns="0" bIns="0" rtlCol="0" anchor="ctr"/>
          <a:lstStyle/>
          <a:p>
            <a:pPr marL="0" indent="0">
              <a:buNone/>
            </a:pPr>
            <a:r>
              <a:rPr lang="en-US" sz="1400" b="1" dirty="0">
                <a:solidFill>
                  <a:srgbClr val="1C2B52"/>
                </a:solidFill>
                <a:latin typeface="Calibri" pitchFamily="34" charset="0"/>
                <a:ea typeface="Calibri" pitchFamily="34" charset="-122"/>
                <a:cs typeface="Calibri" pitchFamily="34" charset="-120"/>
              </a:rPr>
              <a:t>Clarify or expand</a:t>
            </a:r>
            <a:endParaRPr lang="en-US" sz="1400" dirty="0"/>
          </a:p>
        </p:txBody>
      </p:sp>
      <p:sp>
        <p:nvSpPr>
          <p:cNvPr id="24" name="Text 21"/>
          <p:cNvSpPr/>
          <p:nvPr/>
        </p:nvSpPr>
        <p:spPr>
          <a:xfrm>
            <a:off x="5760720" y="4809744"/>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Verification failure, or several plausible legal readings</a:t>
            </a:r>
            <a:endParaRPr lang="en-US" sz="1200" dirty="0"/>
          </a:p>
        </p:txBody>
      </p:sp>
      <p:sp>
        <p:nvSpPr>
          <p:cNvPr id="25" name="Shape 22"/>
          <p:cNvSpPr/>
          <p:nvPr/>
        </p:nvSpPr>
        <p:spPr>
          <a:xfrm>
            <a:off x="640080" y="5349240"/>
            <a:ext cx="10881360" cy="603504"/>
          </a:xfrm>
          <a:prstGeom prst="roundRect">
            <a:avLst>
              <a:gd name="adj" fmla="val 12121"/>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26" name="Text 23"/>
          <p:cNvSpPr/>
          <p:nvPr/>
        </p:nvSpPr>
        <p:spPr>
          <a:xfrm>
            <a:off x="868680" y="5477256"/>
            <a:ext cx="777240" cy="365760"/>
          </a:xfrm>
          <a:prstGeom prst="rect">
            <a:avLst/>
          </a:prstGeom>
          <a:noFill/>
          <a:ln/>
        </p:spPr>
        <p:txBody>
          <a:bodyPr wrap="square" lIns="0" tIns="0" rIns="0" bIns="0" rtlCol="0" anchor="ctr"/>
          <a:lstStyle/>
          <a:p>
            <a:pPr marL="0" indent="0" algn="ctr">
              <a:buNone/>
            </a:pPr>
            <a:r>
              <a:rPr lang="en-US" sz="1700" b="1" dirty="0">
                <a:solidFill>
                  <a:srgbClr val="B5922A"/>
                </a:solidFill>
                <a:latin typeface="Cambria" pitchFamily="34" charset="0"/>
                <a:ea typeface="Cambria" pitchFamily="34" charset="-122"/>
                <a:cs typeface="Cambria" pitchFamily="34" charset="-120"/>
              </a:rPr>
              <a:t>6</a:t>
            </a:r>
            <a:endParaRPr lang="en-US" sz="1700" dirty="0"/>
          </a:p>
        </p:txBody>
      </p:sp>
      <p:sp>
        <p:nvSpPr>
          <p:cNvPr id="27" name="Text 24"/>
          <p:cNvSpPr/>
          <p:nvPr/>
        </p:nvSpPr>
        <p:spPr>
          <a:xfrm>
            <a:off x="1737360" y="5504688"/>
            <a:ext cx="39319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Abstain → human review</a:t>
            </a:r>
            <a:endParaRPr lang="en-US" sz="1400" dirty="0"/>
          </a:p>
        </p:txBody>
      </p:sp>
      <p:sp>
        <p:nvSpPr>
          <p:cNvPr id="28" name="Text 25"/>
          <p:cNvSpPr/>
          <p:nvPr/>
        </p:nvSpPr>
        <p:spPr>
          <a:xfrm>
            <a:off x="5760720" y="5522976"/>
            <a:ext cx="5486400" cy="320040"/>
          </a:xfrm>
          <a:prstGeom prst="rect">
            <a:avLst/>
          </a:prstGeom>
          <a:noFill/>
          <a:ln/>
        </p:spPr>
        <p:txBody>
          <a:bodyPr wrap="square" lIns="0" tIns="0" rIns="0" bIns="0" rtlCol="0" anchor="ctr"/>
          <a:lstStyle/>
          <a:p>
            <a:pPr marL="0" indent="0">
              <a:buNone/>
            </a:pPr>
            <a:r>
              <a:rPr lang="en-US" sz="1200" dirty="0">
                <a:solidFill>
                  <a:srgbClr val="C9D3E8"/>
                </a:solidFill>
                <a:latin typeface="Calibri" pitchFamily="34" charset="0"/>
                <a:ea typeface="Calibri" pitchFamily="34" charset="-122"/>
                <a:cs typeface="Calibri" pitchFamily="34" charset="-120"/>
              </a:rPr>
              <a:t>Conflicting sources, no supporting evidence, unresolved ambiguity</a:t>
            </a:r>
            <a:endParaRPr lang="en-US" sz="1200" dirty="0"/>
          </a:p>
        </p:txBody>
      </p:sp>
      <p:sp>
        <p:nvSpPr>
          <p:cNvPr id="29" name="Text 26"/>
          <p:cNvSpPr/>
          <p:nvPr/>
        </p:nvSpPr>
        <p:spPr>
          <a:xfrm>
            <a:off x="640080" y="6108192"/>
            <a:ext cx="10881360" cy="36576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Every trigger must be computable at runtime. Gold-label agreement is unavailable in deployment and cannot appear in a trigger.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STATUS — 30 JULY 2026</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Where the project stands today</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Text 2"/>
          <p:cNvSpPr/>
          <p:nvPr/>
        </p:nvSpPr>
        <p:spPr>
          <a:xfrm>
            <a:off x="640080" y="1783080"/>
            <a:ext cx="5486400" cy="320040"/>
          </a:xfrm>
          <a:prstGeom prst="rect">
            <a:avLst/>
          </a:prstGeom>
          <a:noFill/>
          <a:ln/>
        </p:spPr>
        <p:txBody>
          <a:bodyPr wrap="square" lIns="0" tIns="0" rIns="0" bIns="0" rtlCol="0" anchor="ctr"/>
          <a:lstStyle/>
          <a:p>
            <a:pPr marL="0" indent="0">
              <a:buNone/>
            </a:pPr>
            <a:r>
              <a:rPr lang="en-US" sz="1300" b="1" kern="0" spc="100" dirty="0">
                <a:solidFill>
                  <a:srgbClr val="1C2B52"/>
                </a:solidFill>
                <a:latin typeface="Calibri" pitchFamily="34" charset="0"/>
                <a:ea typeface="Calibri" pitchFamily="34" charset="-122"/>
                <a:cs typeface="Calibri" pitchFamily="34" charset="-120"/>
              </a:rPr>
              <a:t>Complete and reproducible</a:t>
            </a:r>
            <a:endParaRPr lang="en-US" sz="1300" dirty="0"/>
          </a:p>
        </p:txBody>
      </p:sp>
      <p:sp>
        <p:nvSpPr>
          <p:cNvPr id="6" name="Shape 3"/>
          <p:cNvSpPr/>
          <p:nvPr/>
        </p:nvSpPr>
        <p:spPr>
          <a:xfrm>
            <a:off x="640080" y="2148840"/>
            <a:ext cx="5486400" cy="3429000"/>
          </a:xfrm>
          <a:prstGeom prst="roundRect">
            <a:avLst>
              <a:gd name="adj" fmla="val 2133"/>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7" name="Text 4"/>
          <p:cNvSpPr/>
          <p:nvPr/>
        </p:nvSpPr>
        <p:spPr>
          <a:xfrm>
            <a:off x="914400" y="2377440"/>
            <a:ext cx="4983480" cy="30175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Hierarchy-aware corpus: 109 parents, 1,535 children, zero validation issues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Evidence-linked 99-question benchmark, parent-grouped, zero leakage</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E1–E4 complete: 3-small, 3-large, BM25, RRF, local cross-encoder</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Both context variants built for all 99 questions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Answer schema, prompt contract, quote verification, citation resolution</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Chapters 1–4 drafted; bibliography at 64 verified references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Validity protocol registered, form live, first returns aggregated</a:t>
            </a:r>
            <a:endParaRPr lang="en-US" sz="1200" dirty="0"/>
          </a:p>
        </p:txBody>
      </p:sp>
      <p:sp>
        <p:nvSpPr>
          <p:cNvPr id="8" name="Text 5"/>
          <p:cNvSpPr/>
          <p:nvPr/>
        </p:nvSpPr>
        <p:spPr>
          <a:xfrm>
            <a:off x="6492240" y="1783080"/>
            <a:ext cx="5029200" cy="320040"/>
          </a:xfrm>
          <a:prstGeom prst="rect">
            <a:avLst/>
          </a:prstGeom>
          <a:noFill/>
          <a:ln/>
        </p:spPr>
        <p:txBody>
          <a:bodyPr wrap="square" lIns="0" tIns="0" rIns="0" bIns="0" rtlCol="0" anchor="ctr"/>
          <a:lstStyle/>
          <a:p>
            <a:pPr marL="0" indent="0">
              <a:buNone/>
            </a:pPr>
            <a:r>
              <a:rPr lang="en-US" sz="1300" b="1" kern="0" spc="100" dirty="0">
                <a:solidFill>
                  <a:srgbClr val="9B1C1C"/>
                </a:solidFill>
                <a:latin typeface="Calibri" pitchFamily="34" charset="0"/>
                <a:ea typeface="Calibri" pitchFamily="34" charset="-122"/>
                <a:cs typeface="Calibri" pitchFamily="34" charset="-120"/>
              </a:rPr>
              <a:t>Blocked, and why</a:t>
            </a:r>
            <a:endParaRPr lang="en-US" sz="1300" dirty="0"/>
          </a:p>
        </p:txBody>
      </p:sp>
      <p:sp>
        <p:nvSpPr>
          <p:cNvPr id="9" name="Shape 6"/>
          <p:cNvSpPr/>
          <p:nvPr/>
        </p:nvSpPr>
        <p:spPr>
          <a:xfrm>
            <a:off x="6492240" y="2148840"/>
            <a:ext cx="5029200" cy="3429000"/>
          </a:xfrm>
          <a:prstGeom prst="roundRect">
            <a:avLst>
              <a:gd name="adj" fmla="val 2133"/>
            </a:avLst>
          </a:prstGeom>
          <a:solidFill>
            <a:srgbClr val="F7EDED"/>
          </a:solidFill>
          <a:ln w="12700">
            <a:solidFill>
              <a:srgbClr val="F7EDED"/>
            </a:solidFill>
            <a:prstDash val="solid"/>
          </a:ln>
          <a:effectLst>
            <a:outerShdw blurRad="101600" dist="12700" dir="5400000" algn="bl" rotWithShape="0">
              <a:srgbClr val="8899BB">
                <a:alpha val="18000"/>
              </a:srgbClr>
            </a:outerShdw>
          </a:effectLst>
        </p:spPr>
        <p:txBody>
          <a:bodyPr/>
          <a:lstStyle/>
          <a:p>
            <a:endParaRPr lang="en-GB"/>
          </a:p>
        </p:txBody>
      </p:sp>
      <p:sp>
        <p:nvSpPr>
          <p:cNvPr id="10" name="Text 7"/>
          <p:cNvSpPr/>
          <p:nvPr/>
        </p:nvSpPr>
        <p:spPr>
          <a:xfrm>
            <a:off x="6766560" y="2377440"/>
            <a:ext cx="4526280" cy="20116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Review collection: 27/33 rated once, only 7 rated twice</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End-to-end generation (E5) — blocked until the benchmark is frozen</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Verifier, abstention and switching-policy results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Prototype interface</a:t>
            </a:r>
            <a:endParaRPr lang="en-US" sz="1200" dirty="0"/>
          </a:p>
        </p:txBody>
      </p:sp>
      <p:sp>
        <p:nvSpPr>
          <p:cNvPr id="11" name="Text 8"/>
          <p:cNvSpPr/>
          <p:nvPr/>
        </p:nvSpPr>
        <p:spPr>
          <a:xfrm>
            <a:off x="6766560" y="4617720"/>
            <a:ext cx="4526280" cy="777240"/>
          </a:xfrm>
          <a:prstGeom prst="rect">
            <a:avLst/>
          </a:prstGeom>
          <a:noFill/>
          <a:ln/>
        </p:spPr>
        <p:txBody>
          <a:bodyPr wrap="square" lIns="0" tIns="0" rIns="0" bIns="0" rtlCol="0" anchor="ctr"/>
          <a:lstStyle/>
          <a:p>
            <a:pPr marL="0" indent="0">
              <a:lnSpc>
                <a:spcPts val="2000"/>
              </a:lnSpc>
              <a:buNone/>
            </a:pPr>
            <a:r>
              <a:rPr lang="en-US" sz="1500" b="1" dirty="0">
                <a:solidFill>
                  <a:srgbClr val="9B1C1C"/>
                </a:solidFill>
                <a:latin typeface="Cambria" pitchFamily="34" charset="0"/>
                <a:ea typeface="Cambria" pitchFamily="34" charset="-122"/>
                <a:cs typeface="Cambria" pitchFamily="34" charset="-120"/>
              </a:rPr>
              <a:t>Freeze on 6 August on whatever</a:t>
            </a:r>
            <a:endParaRPr lang="en-US" sz="1500" dirty="0"/>
          </a:p>
          <a:p>
            <a:pPr marL="0" indent="0">
              <a:lnSpc>
                <a:spcPts val="2000"/>
              </a:lnSpc>
              <a:buNone/>
            </a:pPr>
            <a:r>
              <a:rPr lang="en-US" sz="1500" b="1" dirty="0">
                <a:solidFill>
                  <a:srgbClr val="9B1C1C"/>
                </a:solidFill>
                <a:latin typeface="Cambria" pitchFamily="34" charset="0"/>
                <a:ea typeface="Cambria" pitchFamily="34" charset="-122"/>
                <a:cs typeface="Cambria" pitchFamily="34" charset="-120"/>
              </a:rPr>
              <a:t>coverage exists. Rule fixed in advance.</a:t>
            </a:r>
            <a:endParaRPr lang="en-US" sz="1500" dirty="0"/>
          </a:p>
        </p:txBody>
      </p:sp>
      <p:sp>
        <p:nvSpPr>
          <p:cNvPr id="12" name="Text 9"/>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Every retrieval figure in this deck carries candidate status until the reviewed benchmark is frozen.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SCHEDULE</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Revised plan — full draft by 15 August</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Text 2"/>
          <p:cNvSpPr/>
          <p:nvPr/>
        </p:nvSpPr>
        <p:spPr>
          <a:xfrm>
            <a:off x="640080" y="1691640"/>
            <a:ext cx="10881360" cy="32004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The draft target moved forward by nine days. Experiments now freeze around 5–6 August.</a:t>
            </a:r>
            <a:endParaRPr lang="en-US" sz="1400" dirty="0"/>
          </a:p>
        </p:txBody>
      </p:sp>
      <p:sp>
        <p:nvSpPr>
          <p:cNvPr id="6" name="Shape 3"/>
          <p:cNvSpPr/>
          <p:nvPr/>
        </p:nvSpPr>
        <p:spPr>
          <a:xfrm>
            <a:off x="640080" y="2286000"/>
            <a:ext cx="1673352" cy="2743200"/>
          </a:xfrm>
          <a:prstGeom prst="roundRect">
            <a:avLst>
              <a:gd name="adj" fmla="val 4372"/>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7" name="Text 4"/>
          <p:cNvSpPr/>
          <p:nvPr/>
        </p:nvSpPr>
        <p:spPr>
          <a:xfrm>
            <a:off x="786384"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31 Jul</a:t>
            </a:r>
            <a:endParaRPr lang="en-US" sz="1250" dirty="0"/>
          </a:p>
        </p:txBody>
      </p:sp>
      <p:sp>
        <p:nvSpPr>
          <p:cNvPr id="8" name="Text 5"/>
          <p:cNvSpPr/>
          <p:nvPr/>
        </p:nvSpPr>
        <p:spPr>
          <a:xfrm>
            <a:off x="786384" y="2834640"/>
            <a:ext cx="1380744" cy="64008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Review closes</a:t>
            </a:r>
            <a:endParaRPr lang="en-US" sz="1500" dirty="0"/>
          </a:p>
        </p:txBody>
      </p:sp>
      <p:sp>
        <p:nvSpPr>
          <p:cNvPr id="9" name="Text 6"/>
          <p:cNvSpPr/>
          <p:nvPr/>
        </p:nvSpPr>
        <p:spPr>
          <a:xfrm>
            <a:off x="786384" y="3456432"/>
            <a:ext cx="1380744" cy="14173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Panel responses in; queue filled in parallel</a:t>
            </a:r>
            <a:endParaRPr lang="en-US" sz="1100" dirty="0"/>
          </a:p>
        </p:txBody>
      </p:sp>
      <p:sp>
        <p:nvSpPr>
          <p:cNvPr id="10" name="Shape 7"/>
          <p:cNvSpPr/>
          <p:nvPr/>
        </p:nvSpPr>
        <p:spPr>
          <a:xfrm>
            <a:off x="2459736" y="2286000"/>
            <a:ext cx="1673352" cy="2743200"/>
          </a:xfrm>
          <a:prstGeom prst="roundRect">
            <a:avLst>
              <a:gd name="adj" fmla="val 4372"/>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1" name="Text 8"/>
          <p:cNvSpPr/>
          <p:nvPr/>
        </p:nvSpPr>
        <p:spPr>
          <a:xfrm>
            <a:off x="2606040"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2 Aug</a:t>
            </a:r>
            <a:endParaRPr lang="en-US" sz="1250" dirty="0"/>
          </a:p>
        </p:txBody>
      </p:sp>
      <p:sp>
        <p:nvSpPr>
          <p:cNvPr id="12" name="Text 9"/>
          <p:cNvSpPr/>
          <p:nvPr/>
        </p:nvSpPr>
        <p:spPr>
          <a:xfrm>
            <a:off x="2606040" y="2834640"/>
            <a:ext cx="1380744" cy="64008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Freeze + re-score</a:t>
            </a:r>
            <a:endParaRPr lang="en-US" sz="1500" dirty="0"/>
          </a:p>
        </p:txBody>
      </p:sp>
      <p:sp>
        <p:nvSpPr>
          <p:cNvPr id="13" name="Text 10"/>
          <p:cNvSpPr/>
          <p:nvPr/>
        </p:nvSpPr>
        <p:spPr>
          <a:xfrm>
            <a:off x="2606040" y="3456432"/>
            <a:ext cx="1380744" cy="14173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Adjudicate, freeze, then re-score few-shot / RAG / LoRA on the repaired benchmark</a:t>
            </a:r>
            <a:endParaRPr lang="en-US" sz="1100" dirty="0"/>
          </a:p>
        </p:txBody>
      </p:sp>
      <p:sp>
        <p:nvSpPr>
          <p:cNvPr id="14" name="Shape 11"/>
          <p:cNvSpPr/>
          <p:nvPr/>
        </p:nvSpPr>
        <p:spPr>
          <a:xfrm>
            <a:off x="4279392" y="2286000"/>
            <a:ext cx="1673352" cy="2743200"/>
          </a:xfrm>
          <a:prstGeom prst="roundRect">
            <a:avLst>
              <a:gd name="adj" fmla="val 4372"/>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5" name="Text 12"/>
          <p:cNvSpPr/>
          <p:nvPr/>
        </p:nvSpPr>
        <p:spPr>
          <a:xfrm>
            <a:off x="4425696"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3–6 Aug</a:t>
            </a:r>
            <a:endParaRPr lang="en-US" sz="1250" dirty="0"/>
          </a:p>
        </p:txBody>
      </p:sp>
      <p:sp>
        <p:nvSpPr>
          <p:cNvPr id="16" name="Text 13"/>
          <p:cNvSpPr/>
          <p:nvPr/>
        </p:nvSpPr>
        <p:spPr>
          <a:xfrm>
            <a:off x="4425696" y="2834640"/>
            <a:ext cx="1380744" cy="64008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Generation</a:t>
            </a:r>
            <a:endParaRPr lang="en-US" sz="1500" dirty="0"/>
          </a:p>
        </p:txBody>
      </p:sp>
      <p:sp>
        <p:nvSpPr>
          <p:cNvPr id="17" name="Text 14"/>
          <p:cNvSpPr/>
          <p:nvPr/>
        </p:nvSpPr>
        <p:spPr>
          <a:xfrm>
            <a:off x="4425696" y="3456432"/>
            <a:ext cx="1380744" cy="14173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E5, verification, abstention</a:t>
            </a:r>
            <a:endParaRPr lang="en-US" sz="1100" dirty="0"/>
          </a:p>
        </p:txBody>
      </p:sp>
      <p:sp>
        <p:nvSpPr>
          <p:cNvPr id="18" name="Shape 15"/>
          <p:cNvSpPr/>
          <p:nvPr/>
        </p:nvSpPr>
        <p:spPr>
          <a:xfrm>
            <a:off x="6099048" y="2286000"/>
            <a:ext cx="1673352" cy="2743200"/>
          </a:xfrm>
          <a:prstGeom prst="roundRect">
            <a:avLst>
              <a:gd name="adj" fmla="val 4372"/>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9" name="Text 16"/>
          <p:cNvSpPr/>
          <p:nvPr/>
        </p:nvSpPr>
        <p:spPr>
          <a:xfrm>
            <a:off x="6245352"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6–8 Aug</a:t>
            </a:r>
            <a:endParaRPr lang="en-US" sz="1250" dirty="0"/>
          </a:p>
        </p:txBody>
      </p:sp>
      <p:sp>
        <p:nvSpPr>
          <p:cNvPr id="20" name="Text 17"/>
          <p:cNvSpPr/>
          <p:nvPr/>
        </p:nvSpPr>
        <p:spPr>
          <a:xfrm>
            <a:off x="6245352" y="2834640"/>
            <a:ext cx="1380744" cy="64008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Calibration</a:t>
            </a:r>
            <a:endParaRPr lang="en-US" sz="1500" dirty="0"/>
          </a:p>
        </p:txBody>
      </p:sp>
      <p:sp>
        <p:nvSpPr>
          <p:cNvPr id="21" name="Text 18"/>
          <p:cNvSpPr/>
          <p:nvPr/>
        </p:nvSpPr>
        <p:spPr>
          <a:xfrm>
            <a:off x="6245352" y="3456432"/>
            <a:ext cx="1380744" cy="14173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Escalation thresholds, held-out reporting, final tables</a:t>
            </a:r>
            <a:endParaRPr lang="en-US" sz="1100" dirty="0"/>
          </a:p>
        </p:txBody>
      </p:sp>
      <p:sp>
        <p:nvSpPr>
          <p:cNvPr id="22" name="Shape 19"/>
          <p:cNvSpPr/>
          <p:nvPr/>
        </p:nvSpPr>
        <p:spPr>
          <a:xfrm>
            <a:off x="7918704" y="2286000"/>
            <a:ext cx="1673352" cy="2743200"/>
          </a:xfrm>
          <a:prstGeom prst="roundRect">
            <a:avLst>
              <a:gd name="adj" fmla="val 4372"/>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23" name="Text 20"/>
          <p:cNvSpPr/>
          <p:nvPr/>
        </p:nvSpPr>
        <p:spPr>
          <a:xfrm>
            <a:off x="8065008"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8–11 Aug</a:t>
            </a:r>
            <a:endParaRPr lang="en-US" sz="1250" dirty="0"/>
          </a:p>
        </p:txBody>
      </p:sp>
      <p:sp>
        <p:nvSpPr>
          <p:cNvPr id="24" name="Text 21"/>
          <p:cNvSpPr/>
          <p:nvPr/>
        </p:nvSpPr>
        <p:spPr>
          <a:xfrm>
            <a:off x="8065008" y="2834640"/>
            <a:ext cx="1380744" cy="640080"/>
          </a:xfrm>
          <a:prstGeom prst="rect">
            <a:avLst/>
          </a:prstGeom>
          <a:noFill/>
          <a:ln/>
        </p:spPr>
        <p:txBody>
          <a:bodyPr wrap="square" lIns="0" tIns="0" rIns="0" bIns="0" rtlCol="0" anchor="ctr"/>
          <a:lstStyle/>
          <a:p>
            <a:pPr marL="0" indent="0">
              <a:buNone/>
            </a:pPr>
            <a:r>
              <a:rPr lang="en-US" sz="1500" b="1" dirty="0">
                <a:solidFill>
                  <a:srgbClr val="1C2B52"/>
                </a:solidFill>
                <a:latin typeface="Cambria" pitchFamily="34" charset="0"/>
                <a:ea typeface="Cambria" pitchFamily="34" charset="-122"/>
                <a:cs typeface="Cambria" pitchFamily="34" charset="-120"/>
              </a:rPr>
              <a:t>Writing</a:t>
            </a:r>
            <a:endParaRPr lang="en-US" sz="1500" dirty="0"/>
          </a:p>
        </p:txBody>
      </p:sp>
      <p:sp>
        <p:nvSpPr>
          <p:cNvPr id="25" name="Text 22"/>
          <p:cNvSpPr/>
          <p:nvPr/>
        </p:nvSpPr>
        <p:spPr>
          <a:xfrm>
            <a:off x="8065008" y="3456432"/>
            <a:ext cx="1380744" cy="14173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Chapters 5 and 6; complete 1 and 3; rebuild the PDF</a:t>
            </a:r>
            <a:endParaRPr lang="en-US" sz="1100" dirty="0"/>
          </a:p>
        </p:txBody>
      </p:sp>
      <p:sp>
        <p:nvSpPr>
          <p:cNvPr id="26" name="Shape 23"/>
          <p:cNvSpPr/>
          <p:nvPr/>
        </p:nvSpPr>
        <p:spPr>
          <a:xfrm>
            <a:off x="9738360" y="2286000"/>
            <a:ext cx="1673352" cy="2743200"/>
          </a:xfrm>
          <a:prstGeom prst="roundRect">
            <a:avLst>
              <a:gd name="adj" fmla="val 4372"/>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27" name="Text 24"/>
          <p:cNvSpPr/>
          <p:nvPr/>
        </p:nvSpPr>
        <p:spPr>
          <a:xfrm>
            <a:off x="9884664" y="2468880"/>
            <a:ext cx="1380744" cy="320040"/>
          </a:xfrm>
          <a:prstGeom prst="rect">
            <a:avLst/>
          </a:prstGeom>
          <a:noFill/>
          <a:ln/>
        </p:spPr>
        <p:txBody>
          <a:bodyPr wrap="square" lIns="0" tIns="0" rIns="0" bIns="0" rtlCol="0" anchor="ctr"/>
          <a:lstStyle/>
          <a:p>
            <a:pPr marL="0" indent="0">
              <a:buNone/>
            </a:pPr>
            <a:r>
              <a:rPr lang="en-US" sz="1250" b="1" dirty="0">
                <a:solidFill>
                  <a:srgbClr val="B5922A"/>
                </a:solidFill>
                <a:latin typeface="Calibri" pitchFamily="34" charset="0"/>
                <a:ea typeface="Calibri" pitchFamily="34" charset="-122"/>
                <a:cs typeface="Calibri" pitchFamily="34" charset="-120"/>
              </a:rPr>
              <a:t>15 Aug</a:t>
            </a:r>
            <a:endParaRPr lang="en-US" sz="1250" dirty="0"/>
          </a:p>
        </p:txBody>
      </p:sp>
      <p:sp>
        <p:nvSpPr>
          <p:cNvPr id="28" name="Text 25"/>
          <p:cNvSpPr/>
          <p:nvPr/>
        </p:nvSpPr>
        <p:spPr>
          <a:xfrm>
            <a:off x="9884664" y="2834640"/>
            <a:ext cx="1380744" cy="64008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Full draft</a:t>
            </a:r>
            <a:endParaRPr lang="en-US" sz="1500" dirty="0"/>
          </a:p>
        </p:txBody>
      </p:sp>
      <p:sp>
        <p:nvSpPr>
          <p:cNvPr id="29" name="Text 26"/>
          <p:cNvSpPr/>
          <p:nvPr/>
        </p:nvSpPr>
        <p:spPr>
          <a:xfrm>
            <a:off x="9884664" y="3456432"/>
            <a:ext cx="1380744" cy="1417320"/>
          </a:xfrm>
          <a:prstGeom prst="rect">
            <a:avLst/>
          </a:prstGeom>
          <a:noFill/>
          <a:ln/>
        </p:spPr>
        <p:txBody>
          <a:bodyPr wrap="square" lIns="0" tIns="0" rIns="0" bIns="0" rtlCol="0" anchor="t"/>
          <a:lstStyle/>
          <a:p>
            <a:pPr marL="0" indent="0">
              <a:buNone/>
            </a:pPr>
            <a:r>
              <a:rPr lang="en-US" sz="1100" dirty="0">
                <a:solidFill>
                  <a:srgbClr val="C9D3E8"/>
                </a:solidFill>
                <a:latin typeface="Calibri" pitchFamily="34" charset="0"/>
                <a:ea typeface="Calibri" pitchFamily="34" charset="-122"/>
                <a:cs typeface="Calibri" pitchFamily="34" charset="-120"/>
              </a:rPr>
              <a:t>Sent to supervisor for review</a:t>
            </a:r>
            <a:endParaRPr lang="en-US" sz="1100" dirty="0"/>
          </a:p>
        </p:txBody>
      </p:sp>
      <p:sp>
        <p:nvSpPr>
          <p:cNvPr id="30" name="Text 27"/>
          <p:cNvSpPr/>
          <p:nvPr/>
        </p:nvSpPr>
        <p:spPr>
          <a:xfrm>
            <a:off x="640080" y="5257800"/>
            <a:ext cx="10881360" cy="5486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Consequence: this argues for dropping the third embedding candidate rather than adding it, and for leaving multi-step retrieval unstarted unless a reviewed residual demands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2B52"/>
        </a:solidFill>
        <a:effectLst/>
      </p:bgPr>
    </p:bg>
    <p:spTree>
      <p:nvGrpSpPr>
        <p:cNvPr id="1" name=""/>
        <p:cNvGrpSpPr/>
        <p:nvPr/>
      </p:nvGrpSpPr>
      <p:grpSpPr>
        <a:xfrm>
          <a:off x="0" y="0"/>
          <a:ext cx="0" cy="0"/>
          <a:chOff x="0" y="0"/>
          <a:chExt cx="0" cy="0"/>
        </a:xfrm>
      </p:grpSpPr>
      <p:sp>
        <p:nvSpPr>
          <p:cNvPr id="2" name="Shape 0"/>
          <p:cNvSpPr/>
          <p:nvPr/>
        </p:nvSpPr>
        <p:spPr>
          <a:xfrm>
            <a:off x="10094976" y="448056"/>
            <a:ext cx="1572768" cy="658368"/>
          </a:xfrm>
          <a:prstGeom prst="roundRect">
            <a:avLst>
              <a:gd name="adj" fmla="val 8333"/>
            </a:avLst>
          </a:prstGeom>
          <a:solidFill>
            <a:srgbClr val="FFFFFF"/>
          </a:solidFill>
          <a:ln w="12700">
            <a:solidFill>
              <a:srgbClr val="FFFFFF"/>
            </a:solidFill>
            <a:prstDash val="solid"/>
          </a:ln>
        </p:spPr>
        <p:txBody>
          <a:bodyPr/>
          <a:lstStyle/>
          <a:p>
            <a:endParaRPr lang="en-GB"/>
          </a:p>
        </p:txBody>
      </p:sp>
      <p:pic>
        <p:nvPicPr>
          <p:cNvPr id="3" name="Image 0" descr="preencoded.png"/>
          <p:cNvPicPr>
            <a:picLocks noChangeAspect="1"/>
          </p:cNvPicPr>
          <p:nvPr/>
        </p:nvPicPr>
        <p:blipFill>
          <a:blip r:embed="rId3"/>
          <a:stretch>
            <a:fillRect/>
          </a:stretch>
        </p:blipFill>
        <p:spPr>
          <a:xfrm>
            <a:off x="10241280" y="566928"/>
            <a:ext cx="1280160" cy="402336"/>
          </a:xfrm>
          <a:prstGeom prst="rect">
            <a:avLst/>
          </a:prstGeom>
        </p:spPr>
      </p:pic>
      <p:sp>
        <p:nvSpPr>
          <p:cNvPr id="4" name="Text 1"/>
          <p:cNvSpPr/>
          <p:nvPr/>
        </p:nvSpPr>
        <p:spPr>
          <a:xfrm>
            <a:off x="640080" y="685800"/>
            <a:ext cx="7315200" cy="274320"/>
          </a:xfrm>
          <a:prstGeom prst="rect">
            <a:avLst/>
          </a:prstGeom>
          <a:noFill/>
          <a:ln/>
        </p:spPr>
        <p:txBody>
          <a:bodyPr wrap="square" lIns="0" tIns="0" rIns="0" bIns="0" rtlCol="0" anchor="ctr"/>
          <a:lstStyle/>
          <a:p>
            <a:pPr marL="0" indent="0">
              <a:buNone/>
            </a:pPr>
            <a:r>
              <a:rPr lang="en-US" sz="1200" b="1" kern="0" spc="200" dirty="0">
                <a:solidFill>
                  <a:srgbClr val="B5922A"/>
                </a:solidFill>
                <a:latin typeface="Calibri" pitchFamily="34" charset="0"/>
                <a:ea typeface="Calibri" pitchFamily="34" charset="-122"/>
                <a:cs typeface="Calibri" pitchFamily="34" charset="-120"/>
              </a:rPr>
              <a:t>DECISIONS REQUESTED</a:t>
            </a:r>
            <a:endParaRPr lang="en-US" sz="1200" dirty="0"/>
          </a:p>
        </p:txBody>
      </p:sp>
      <p:sp>
        <p:nvSpPr>
          <p:cNvPr id="5" name="Text 2"/>
          <p:cNvSpPr/>
          <p:nvPr/>
        </p:nvSpPr>
        <p:spPr>
          <a:xfrm>
            <a:off x="640080" y="1051560"/>
            <a:ext cx="9601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Four answers unblock the final two weeks</a:t>
            </a:r>
            <a:endParaRPr lang="en-US" sz="3200" dirty="0"/>
          </a:p>
        </p:txBody>
      </p:sp>
      <p:sp>
        <p:nvSpPr>
          <p:cNvPr id="6" name="Shape 3"/>
          <p:cNvSpPr/>
          <p:nvPr/>
        </p:nvSpPr>
        <p:spPr>
          <a:xfrm>
            <a:off x="640080" y="2057400"/>
            <a:ext cx="384048" cy="384048"/>
          </a:xfrm>
          <a:prstGeom prst="ellipse">
            <a:avLst/>
          </a:prstGeom>
          <a:solidFill>
            <a:srgbClr val="B5922A"/>
          </a:solidFill>
          <a:ln w="12700">
            <a:solidFill>
              <a:srgbClr val="B5922A"/>
            </a:solidFill>
            <a:prstDash val="solid"/>
          </a:ln>
        </p:spPr>
        <p:txBody>
          <a:bodyPr/>
          <a:lstStyle/>
          <a:p>
            <a:endParaRPr lang="en-GB"/>
          </a:p>
        </p:txBody>
      </p:sp>
      <p:sp>
        <p:nvSpPr>
          <p:cNvPr id="7" name="Text 4"/>
          <p:cNvSpPr/>
          <p:nvPr/>
        </p:nvSpPr>
        <p:spPr>
          <a:xfrm>
            <a:off x="640080" y="2093976"/>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88720" y="2020824"/>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Review coverage</a:t>
            </a:r>
            <a:endParaRPr lang="en-US" sz="1500" dirty="0"/>
          </a:p>
        </p:txBody>
      </p:sp>
      <p:sp>
        <p:nvSpPr>
          <p:cNvPr id="9" name="Text 6"/>
          <p:cNvSpPr/>
          <p:nvPr/>
        </p:nvSpPr>
        <p:spPr>
          <a:xfrm>
            <a:off x="4206240" y="2039112"/>
            <a:ext cx="7315200" cy="685800"/>
          </a:xfrm>
          <a:prstGeom prst="rect">
            <a:avLst/>
          </a:prstGeom>
          <a:noFill/>
          <a:ln/>
        </p:spPr>
        <p:txBody>
          <a:bodyPr wrap="square" lIns="0" tIns="0" rIns="0" bIns="0" rtlCol="0" anchor="t"/>
          <a:lstStyle/>
          <a:p>
            <a:pPr marL="0" indent="0">
              <a:buNone/>
            </a:pPr>
            <a:r>
              <a:rPr lang="en-US" sz="1300" dirty="0">
                <a:solidFill>
                  <a:srgbClr val="C9D3E8"/>
                </a:solidFill>
                <a:latin typeface="Calibri" pitchFamily="34" charset="0"/>
                <a:ea typeface="Calibri" pitchFamily="34" charset="-122"/>
                <a:cs typeface="Calibri" pitchFamily="34" charset="-120"/>
              </a:rPr>
              <a:t>Two reviewers so far, only 7 records rated twice. Is that overlap enough, or should I re-issue the form asking specifically for the 26 single-rated records?</a:t>
            </a:r>
            <a:endParaRPr lang="en-US" sz="1300" dirty="0"/>
          </a:p>
        </p:txBody>
      </p:sp>
      <p:sp>
        <p:nvSpPr>
          <p:cNvPr id="10" name="Shape 7"/>
          <p:cNvSpPr/>
          <p:nvPr/>
        </p:nvSpPr>
        <p:spPr>
          <a:xfrm>
            <a:off x="640080" y="2990088"/>
            <a:ext cx="384048" cy="384048"/>
          </a:xfrm>
          <a:prstGeom prst="ellipse">
            <a:avLst/>
          </a:prstGeom>
          <a:solidFill>
            <a:srgbClr val="B5922A"/>
          </a:solidFill>
          <a:ln w="12700">
            <a:solidFill>
              <a:srgbClr val="B5922A"/>
            </a:solidFill>
            <a:prstDash val="solid"/>
          </a:ln>
        </p:spPr>
        <p:txBody>
          <a:bodyPr/>
          <a:lstStyle/>
          <a:p>
            <a:endParaRPr lang="en-GB"/>
          </a:p>
        </p:txBody>
      </p:sp>
      <p:sp>
        <p:nvSpPr>
          <p:cNvPr id="11" name="Text 8"/>
          <p:cNvSpPr/>
          <p:nvPr/>
        </p:nvSpPr>
        <p:spPr>
          <a:xfrm>
            <a:off x="640080" y="3026664"/>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2</a:t>
            </a:r>
            <a:endParaRPr lang="en-US" sz="1300" dirty="0"/>
          </a:p>
        </p:txBody>
      </p:sp>
      <p:sp>
        <p:nvSpPr>
          <p:cNvPr id="14" name="Shape 11"/>
          <p:cNvSpPr/>
          <p:nvPr/>
        </p:nvSpPr>
        <p:spPr>
          <a:xfrm>
            <a:off x="640080" y="3922776"/>
            <a:ext cx="384048" cy="384048"/>
          </a:xfrm>
          <a:prstGeom prst="ellipse">
            <a:avLst/>
          </a:prstGeom>
          <a:solidFill>
            <a:srgbClr val="B5922A"/>
          </a:solidFill>
          <a:ln w="12700">
            <a:solidFill>
              <a:srgbClr val="B5922A"/>
            </a:solidFill>
            <a:prstDash val="solid"/>
          </a:ln>
        </p:spPr>
        <p:txBody>
          <a:bodyPr/>
          <a:lstStyle/>
          <a:p>
            <a:endParaRPr lang="en-GB"/>
          </a:p>
        </p:txBody>
      </p:sp>
      <p:sp>
        <p:nvSpPr>
          <p:cNvPr id="15" name="Text 12"/>
          <p:cNvSpPr/>
          <p:nvPr/>
        </p:nvSpPr>
        <p:spPr>
          <a:xfrm>
            <a:off x="640080" y="3959352"/>
            <a:ext cx="384048" cy="310896"/>
          </a:xfrm>
          <a:prstGeom prst="rect">
            <a:avLst/>
          </a:prstGeom>
          <a:noFill/>
          <a:ln/>
        </p:spPr>
        <p:txBody>
          <a:bodyPr wrap="square" lIns="0" tIns="0" rIns="0" bIns="0" rtlCol="0" anchor="ctr"/>
          <a:lstStyle/>
          <a:p>
            <a:pPr marL="0" indent="0" algn="ctr">
              <a:buNone/>
            </a:pPr>
            <a:r>
              <a:rPr lang="en-US" sz="1300" b="1" dirty="0">
                <a:solidFill>
                  <a:srgbClr val="1C2B52"/>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188720" y="3049524"/>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Architecture</a:t>
            </a:r>
            <a:endParaRPr lang="en-US" sz="1500" dirty="0"/>
          </a:p>
        </p:txBody>
      </p:sp>
      <p:sp>
        <p:nvSpPr>
          <p:cNvPr id="17" name="Text 14"/>
          <p:cNvSpPr/>
          <p:nvPr/>
        </p:nvSpPr>
        <p:spPr>
          <a:xfrm>
            <a:off x="4206240" y="3067812"/>
            <a:ext cx="5406683" cy="411480"/>
          </a:xfrm>
          <a:prstGeom prst="rect">
            <a:avLst/>
          </a:prstGeom>
          <a:noFill/>
          <a:ln/>
        </p:spPr>
        <p:txBody>
          <a:bodyPr wrap="square" lIns="0" tIns="0" rIns="0" bIns="0" rtlCol="0" anchor="t"/>
          <a:lstStyle/>
          <a:p>
            <a:pPr marL="0" indent="0">
              <a:buNone/>
            </a:pPr>
            <a:r>
              <a:rPr lang="en-US" sz="1300" dirty="0">
                <a:solidFill>
                  <a:srgbClr val="C9D3E8"/>
                </a:solidFill>
                <a:latin typeface="Calibri" pitchFamily="34" charset="0"/>
                <a:ea typeface="Calibri" pitchFamily="34" charset="-122"/>
                <a:cs typeface="Calibri" pitchFamily="34" charset="-120"/>
              </a:rPr>
              <a:t>Approve hybrid top-20 plus local reranking as the retrieval architecture.</a:t>
            </a:r>
            <a:endParaRPr lang="en-US" sz="1300" dirty="0"/>
          </a:p>
        </p:txBody>
      </p:sp>
      <p:sp>
        <p:nvSpPr>
          <p:cNvPr id="20" name="Text 17"/>
          <p:cNvSpPr/>
          <p:nvPr/>
        </p:nvSpPr>
        <p:spPr>
          <a:xfrm>
            <a:off x="1188720" y="3949505"/>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Draft review date</a:t>
            </a:r>
            <a:endParaRPr lang="en-US" sz="1500" dirty="0"/>
          </a:p>
        </p:txBody>
      </p:sp>
      <p:sp>
        <p:nvSpPr>
          <p:cNvPr id="21" name="Text 18"/>
          <p:cNvSpPr/>
          <p:nvPr/>
        </p:nvSpPr>
        <p:spPr>
          <a:xfrm>
            <a:off x="4206240" y="3967793"/>
            <a:ext cx="5816991" cy="384048"/>
          </a:xfrm>
          <a:prstGeom prst="rect">
            <a:avLst/>
          </a:prstGeom>
          <a:noFill/>
          <a:ln/>
        </p:spPr>
        <p:txBody>
          <a:bodyPr wrap="square" lIns="0" tIns="0" rIns="0" bIns="0" rtlCol="0" anchor="t"/>
          <a:lstStyle/>
          <a:p>
            <a:pPr marL="0" indent="0">
              <a:buNone/>
            </a:pPr>
            <a:r>
              <a:rPr lang="en-US" sz="1300" dirty="0">
                <a:solidFill>
                  <a:srgbClr val="C9D3E8"/>
                </a:solidFill>
                <a:latin typeface="Calibri" pitchFamily="34" charset="0"/>
                <a:ea typeface="Calibri" pitchFamily="34" charset="-122"/>
                <a:cs typeface="Calibri" pitchFamily="34" charset="-120"/>
              </a:rPr>
              <a:t>A slot shortly after 15 August, so feedback lands before the end-of-month deadline.</a:t>
            </a:r>
            <a:endParaRPr lang="en-US" sz="1300" dirty="0"/>
          </a:p>
        </p:txBody>
      </p:sp>
      <p:sp>
        <p:nvSpPr>
          <p:cNvPr id="22" name="Text 19"/>
          <p:cNvSpPr/>
          <p:nvPr/>
        </p:nvSpPr>
        <p:spPr>
          <a:xfrm>
            <a:off x="575603" y="4795325"/>
            <a:ext cx="8920089" cy="457200"/>
          </a:xfrm>
          <a:prstGeom prst="rect">
            <a:avLst/>
          </a:prstGeom>
          <a:noFill/>
          <a:ln/>
        </p:spPr>
        <p:txBody>
          <a:bodyPr wrap="square" lIns="0" tIns="0" rIns="0" bIns="0" rtlCol="0" anchor="ctr"/>
          <a:lstStyle/>
          <a:p>
            <a:pPr marL="0" indent="0">
              <a:buNone/>
            </a:pPr>
            <a:r>
              <a:rPr lang="en-US" sz="1250" i="1" dirty="0">
                <a:solidFill>
                  <a:srgbClr val="9FB0CE"/>
                </a:solidFill>
                <a:latin typeface="Calibri" pitchFamily="34" charset="0"/>
                <a:ea typeface="Calibri" pitchFamily="34" charset="-122"/>
                <a:cs typeface="Calibri" pitchFamily="34" charset="-120"/>
              </a:rPr>
              <a:t>Next output: frozen gold benchmark → evidence-constrained answers → verifier and abstention results → switching-policy comparison.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marL="0" indent="0">
              <a:buNone/>
            </a:pPr>
            <a:r>
              <a:rPr lang="en-US" sz="1150" b="1" kern="0" spc="200" dirty="0">
                <a:solidFill>
                  <a:srgbClr val="B5922A"/>
                </a:solidFill>
                <a:latin typeface="Calibri" pitchFamily="34" charset="0"/>
                <a:ea typeface="Calibri" pitchFamily="34" charset="-122"/>
                <a:cs typeface="Calibri" pitchFamily="34" charset="-120"/>
              </a:rPr>
              <a:t>APPENDIX — ON REQUEST</a:t>
            </a:r>
            <a:endParaRPr lang="en-US" sz="1150" dirty="0"/>
          </a:p>
        </p:txBody>
      </p:sp>
      <p:sp>
        <p:nvSpPr>
          <p:cNvPr id="3" name="Text 1"/>
          <p:cNvSpPr/>
          <p:nvPr/>
        </p:nvSpPr>
        <p:spPr>
          <a:xfrm>
            <a:off x="640080" y="676656"/>
            <a:ext cx="9692640" cy="777240"/>
          </a:xfrm>
          <a:prstGeom prst="rect">
            <a:avLst/>
          </a:prstGeom>
          <a:noFill/>
          <a:ln/>
        </p:spPr>
        <p:txBody>
          <a:bodyPr wrap="square" lIns="0" tIns="0" rIns="0" bIns="0" rtlCol="0" anchor="t"/>
          <a:lstStyle/>
          <a:p>
            <a:pPr marL="0" indent="0">
              <a:buNone/>
            </a:pPr>
            <a:r>
              <a:rPr lang="en-US" sz="3200" b="1" dirty="0">
                <a:solidFill>
                  <a:srgbClr val="1C2B52"/>
                </a:solidFill>
                <a:latin typeface="Cambria" pitchFamily="34" charset="0"/>
                <a:ea typeface="Cambria" pitchFamily="34" charset="-122"/>
                <a:cs typeface="Cambria" pitchFamily="34" charset="-120"/>
              </a:rPr>
              <a:t>Multi-step retrieval: the gate, and what would open it</a:t>
            </a:r>
            <a:endParaRPr lang="en-US" sz="3200" dirty="0"/>
          </a:p>
        </p:txBody>
      </p:sp>
      <p:pic>
        <p:nvPicPr>
          <p:cNvPr id="4" name="Image 0" descr="preencoded.png"/>
          <p:cNvPicPr>
            <a:picLocks noChangeAspect="1"/>
          </p:cNvPicPr>
          <p:nvPr/>
        </p:nvPicPr>
        <p:blipFill>
          <a:blip r:embed="rId3"/>
          <a:stretch>
            <a:fillRect/>
          </a:stretch>
        </p:blipFill>
        <p:spPr>
          <a:xfrm>
            <a:off x="10469880" y="384048"/>
            <a:ext cx="1051560" cy="329184"/>
          </a:xfrm>
          <a:prstGeom prst="rect">
            <a:avLst/>
          </a:prstGeom>
        </p:spPr>
      </p:pic>
      <p:sp>
        <p:nvSpPr>
          <p:cNvPr id="5" name="Shape 2"/>
          <p:cNvSpPr/>
          <p:nvPr/>
        </p:nvSpPr>
        <p:spPr>
          <a:xfrm>
            <a:off x="640080" y="1783080"/>
            <a:ext cx="5349240" cy="1965960"/>
          </a:xfrm>
          <a:prstGeom prst="roundRect">
            <a:avLst>
              <a:gd name="adj" fmla="val 3721"/>
            </a:avLst>
          </a:prstGeom>
          <a:solidFill>
            <a:srgbClr val="1C2B52"/>
          </a:solidFill>
          <a:ln w="12700">
            <a:solidFill>
              <a:srgbClr val="1C2B52"/>
            </a:solidFill>
            <a:prstDash val="solid"/>
          </a:ln>
          <a:effectLst>
            <a:outerShdw blurRad="101600" dist="12700" dir="5400000" algn="bl" rotWithShape="0">
              <a:srgbClr val="8899BB">
                <a:alpha val="18000"/>
              </a:srgbClr>
            </a:outerShdw>
          </a:effectLst>
        </p:spPr>
        <p:txBody>
          <a:bodyPr/>
          <a:lstStyle/>
          <a:p>
            <a:endParaRPr lang="en-GB"/>
          </a:p>
        </p:txBody>
      </p:sp>
      <p:sp>
        <p:nvSpPr>
          <p:cNvPr id="6" name="Text 3"/>
          <p:cNvSpPr/>
          <p:nvPr/>
        </p:nvSpPr>
        <p:spPr>
          <a:xfrm>
            <a:off x="914400" y="1965960"/>
            <a:ext cx="4800600" cy="274320"/>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The decision</a:t>
            </a:r>
            <a:endParaRPr lang="en-US" sz="1200" dirty="0"/>
          </a:p>
        </p:txBody>
      </p:sp>
      <p:sp>
        <p:nvSpPr>
          <p:cNvPr id="7" name="Text 4"/>
          <p:cNvSpPr/>
          <p:nvPr/>
        </p:nvSpPr>
        <p:spPr>
          <a:xfrm>
            <a:off x="914400" y="2286000"/>
            <a:ext cx="4800600" cy="822960"/>
          </a:xfrm>
          <a:prstGeom prst="rect">
            <a:avLst/>
          </a:prstGeom>
          <a:noFill/>
          <a:ln/>
        </p:spPr>
        <p:txBody>
          <a:bodyPr wrap="square" lIns="0" tIns="0" rIns="0" bIns="0" rtlCol="0" anchor="ctr"/>
          <a:lstStyle/>
          <a:p>
            <a:pPr marL="0" indent="0">
              <a:lnSpc>
                <a:spcPts val="2200"/>
              </a:lnSpc>
              <a:buNone/>
            </a:pPr>
            <a:r>
              <a:rPr lang="en-US" sz="1700" b="1" dirty="0">
                <a:solidFill>
                  <a:srgbClr val="FFFFFF"/>
                </a:solidFill>
                <a:latin typeface="Cambria" pitchFamily="34" charset="0"/>
                <a:ea typeface="Cambria" pitchFamily="34" charset="-122"/>
                <a:cs typeface="Cambria" pitchFamily="34" charset="-120"/>
              </a:rPr>
              <a:t>Agentic retrieval is admitted only for a residual failure shown to require multi-step evidence.</a:t>
            </a:r>
            <a:endParaRPr lang="en-US" sz="1700" dirty="0"/>
          </a:p>
        </p:txBody>
      </p:sp>
      <p:sp>
        <p:nvSpPr>
          <p:cNvPr id="9" name="Text 6"/>
          <p:cNvSpPr/>
          <p:nvPr/>
        </p:nvSpPr>
        <p:spPr>
          <a:xfrm>
            <a:off x="6309360" y="1783080"/>
            <a:ext cx="5212080" cy="292608"/>
          </a:xfrm>
          <a:prstGeom prst="rect">
            <a:avLst/>
          </a:prstGeom>
          <a:noFill/>
          <a:ln/>
        </p:spPr>
        <p:txBody>
          <a:bodyPr wrap="square" lIns="0" tIns="0" rIns="0" bIns="0" rtlCol="0" anchor="ctr"/>
          <a:lstStyle/>
          <a:p>
            <a:pPr marL="0" indent="0">
              <a:buNone/>
            </a:pPr>
            <a:r>
              <a:rPr lang="en-US" sz="1200" b="1" kern="0" spc="120" dirty="0">
                <a:solidFill>
                  <a:srgbClr val="B5922A"/>
                </a:solidFill>
                <a:latin typeface="Calibri" pitchFamily="34" charset="0"/>
                <a:ea typeface="Calibri" pitchFamily="34" charset="-122"/>
                <a:cs typeface="Calibri" pitchFamily="34" charset="-120"/>
              </a:rPr>
              <a:t>The measurement that settles it</a:t>
            </a:r>
            <a:endParaRPr lang="en-US" sz="1200" dirty="0"/>
          </a:p>
        </p:txBody>
      </p:sp>
      <p:sp>
        <p:nvSpPr>
          <p:cNvPr id="10" name="Shape 7"/>
          <p:cNvSpPr/>
          <p:nvPr/>
        </p:nvSpPr>
        <p:spPr>
          <a:xfrm>
            <a:off x="6309360" y="2148840"/>
            <a:ext cx="25146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1" name="Text 8"/>
          <p:cNvSpPr/>
          <p:nvPr/>
        </p:nvSpPr>
        <p:spPr>
          <a:xfrm>
            <a:off x="6492240" y="2295144"/>
            <a:ext cx="2148840" cy="685800"/>
          </a:xfrm>
          <a:prstGeom prst="rect">
            <a:avLst/>
          </a:prstGeom>
          <a:noFill/>
          <a:ln/>
        </p:spPr>
        <p:txBody>
          <a:bodyPr wrap="square" lIns="0" tIns="0" rIns="0" bIns="0" rtlCol="0" anchor="ctr"/>
          <a:lstStyle/>
          <a:p>
            <a:pPr marL="0" indent="0" algn="l">
              <a:buNone/>
            </a:pPr>
            <a:r>
              <a:rPr lang="en-US" sz="4000" b="1" dirty="0">
                <a:solidFill>
                  <a:srgbClr val="1C2B52"/>
                </a:solidFill>
                <a:latin typeface="Cambria" pitchFamily="34" charset="0"/>
                <a:ea typeface="Cambria" pitchFamily="34" charset="-122"/>
                <a:cs typeface="Cambria" pitchFamily="34" charset="-120"/>
              </a:rPr>
              <a:t>99 / 99</a:t>
            </a:r>
            <a:endParaRPr lang="en-US" sz="4000" dirty="0"/>
          </a:p>
        </p:txBody>
      </p:sp>
      <p:sp>
        <p:nvSpPr>
          <p:cNvPr id="12" name="Text 9"/>
          <p:cNvSpPr/>
          <p:nvPr/>
        </p:nvSpPr>
        <p:spPr>
          <a:xfrm>
            <a:off x="6492240" y="3017520"/>
            <a:ext cx="21488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Records whose gold evidence sits in a single legal parent</a:t>
            </a:r>
            <a:endParaRPr lang="en-US" sz="1200" dirty="0"/>
          </a:p>
        </p:txBody>
      </p:sp>
      <p:sp>
        <p:nvSpPr>
          <p:cNvPr id="13" name="Shape 10"/>
          <p:cNvSpPr/>
          <p:nvPr/>
        </p:nvSpPr>
        <p:spPr>
          <a:xfrm>
            <a:off x="9006840" y="2148840"/>
            <a:ext cx="2514600" cy="1417320"/>
          </a:xfrm>
          <a:prstGeom prst="roundRect">
            <a:avLst>
              <a:gd name="adj" fmla="val 5161"/>
            </a:avLst>
          </a:prstGeom>
          <a:solidFill>
            <a:srgbClr val="F4F6FA"/>
          </a:solidFill>
          <a:ln w="12700">
            <a:solidFill>
              <a:srgbClr val="F4F6FA"/>
            </a:solidFill>
            <a:prstDash val="solid"/>
          </a:ln>
          <a:effectLst>
            <a:outerShdw blurRad="101600" dist="12700" dir="5400000" algn="bl" rotWithShape="0">
              <a:srgbClr val="8899BB">
                <a:alpha val="18000"/>
              </a:srgbClr>
            </a:outerShdw>
          </a:effectLst>
        </p:spPr>
        <p:txBody>
          <a:bodyPr/>
          <a:lstStyle/>
          <a:p>
            <a:endParaRPr lang="en-GB"/>
          </a:p>
        </p:txBody>
      </p:sp>
      <p:sp>
        <p:nvSpPr>
          <p:cNvPr id="14" name="Text 11"/>
          <p:cNvSpPr/>
          <p:nvPr/>
        </p:nvSpPr>
        <p:spPr>
          <a:xfrm>
            <a:off x="9189720" y="2295144"/>
            <a:ext cx="2148840" cy="685800"/>
          </a:xfrm>
          <a:prstGeom prst="rect">
            <a:avLst/>
          </a:prstGeom>
          <a:noFill/>
          <a:ln/>
        </p:spPr>
        <p:txBody>
          <a:bodyPr wrap="square" lIns="0" tIns="0" rIns="0" bIns="0" rtlCol="0" anchor="ctr"/>
          <a:lstStyle/>
          <a:p>
            <a:pPr marL="0" indent="0" algn="l">
              <a:buNone/>
            </a:pPr>
            <a:r>
              <a:rPr lang="en-US" sz="4000" b="1" dirty="0">
                <a:solidFill>
                  <a:srgbClr val="9B1C1C"/>
                </a:solidFill>
                <a:latin typeface="Cambria" pitchFamily="34" charset="0"/>
                <a:ea typeface="Cambria" pitchFamily="34" charset="-122"/>
                <a:cs typeface="Cambria" pitchFamily="34" charset="-120"/>
              </a:rPr>
              <a:t>0</a:t>
            </a:r>
            <a:endParaRPr lang="en-US" sz="4000" dirty="0"/>
          </a:p>
        </p:txBody>
      </p:sp>
      <p:sp>
        <p:nvSpPr>
          <p:cNvPr id="15" name="Text 12"/>
          <p:cNvSpPr/>
          <p:nvPr/>
        </p:nvSpPr>
        <p:spPr>
          <a:xfrm>
            <a:off x="9189720" y="3017520"/>
            <a:ext cx="2148840" cy="457200"/>
          </a:xfrm>
          <a:prstGeom prst="rect">
            <a:avLst/>
          </a:prstGeom>
          <a:noFill/>
          <a:ln/>
        </p:spPr>
        <p:txBody>
          <a:bodyPr wrap="square" lIns="0" tIns="0" rIns="0" bIns="0" rtlCol="0" anchor="ctr"/>
          <a:lstStyle/>
          <a:p>
            <a:pPr marL="0" indent="0" algn="l">
              <a:buNone/>
            </a:pPr>
            <a:r>
              <a:rPr lang="en-US" sz="1200" dirty="0">
                <a:solidFill>
                  <a:srgbClr val="6B7280"/>
                </a:solidFill>
                <a:latin typeface="Calibri" pitchFamily="34" charset="0"/>
                <a:ea typeface="Calibri" pitchFamily="34" charset="-122"/>
                <a:cs typeface="Calibri" pitchFamily="34" charset="-120"/>
              </a:rPr>
              <a:t>Records requiring two or more parents</a:t>
            </a:r>
            <a:endParaRPr lang="en-US" sz="1200" dirty="0"/>
          </a:p>
        </p:txBody>
      </p:sp>
      <p:sp>
        <p:nvSpPr>
          <p:cNvPr id="16" name="Text 13"/>
          <p:cNvSpPr/>
          <p:nvPr/>
        </p:nvSpPr>
        <p:spPr>
          <a:xfrm>
            <a:off x="6309360" y="3749040"/>
            <a:ext cx="5212080" cy="10058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Only two questions are typed as cross-reference, and both resolve within one parent. No question in the current benchmark requires multi-step retrieval — so an agent's benefit cannot be exhibited on this evaluation set, whatever its merits.</a:t>
            </a:r>
            <a:endParaRPr lang="en-US" sz="1250" dirty="0"/>
          </a:p>
        </p:txBody>
      </p:sp>
      <p:sp>
        <p:nvSpPr>
          <p:cNvPr id="17" name="Text 14"/>
          <p:cNvSpPr/>
          <p:nvPr/>
        </p:nvSpPr>
        <p:spPr>
          <a:xfrm>
            <a:off x="640080" y="4069080"/>
            <a:ext cx="5349240" cy="292608"/>
          </a:xfrm>
          <a:prstGeom prst="rect">
            <a:avLst/>
          </a:prstGeom>
          <a:noFill/>
          <a:ln/>
        </p:spPr>
        <p:txBody>
          <a:bodyPr wrap="square" lIns="0" tIns="0" rIns="0" bIns="0" rtlCol="0" anchor="ctr"/>
          <a:lstStyle/>
          <a:p>
            <a:pPr marL="0" indent="0">
              <a:buNone/>
            </a:pPr>
            <a:r>
              <a:rPr lang="en-US" sz="1200" b="1" kern="0" spc="120" dirty="0">
                <a:solidFill>
                  <a:srgbClr val="1C2B52"/>
                </a:solidFill>
                <a:latin typeface="Calibri" pitchFamily="34" charset="0"/>
                <a:ea typeface="Calibri" pitchFamily="34" charset="-122"/>
                <a:cs typeface="Calibri" pitchFamily="34" charset="-120"/>
              </a:rPr>
              <a:t>What would open the gate — 2 to 3 days</a:t>
            </a:r>
            <a:endParaRPr lang="en-US" sz="1200" dirty="0"/>
          </a:p>
        </p:txBody>
      </p:sp>
      <p:sp>
        <p:nvSpPr>
          <p:cNvPr id="18" name="Text 15"/>
          <p:cNvSpPr/>
          <p:nvPr/>
        </p:nvSpPr>
        <p:spPr>
          <a:xfrm>
            <a:off x="731520" y="4434840"/>
            <a:ext cx="5257800" cy="14630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Build a cross-reference evaluation subset whose questions span two or more legal parents</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Show that reranking, expansion and clarification leave a residual on it</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Run a constrained multi-step policy on that residual; measure recovery, latency and cost</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Decision point: 6 August, once generation and verification are done</a:t>
            </a:r>
            <a:endParaRPr lang="en-US" sz="1250" dirty="0"/>
          </a:p>
        </p:txBody>
      </p:sp>
      <p:sp>
        <p:nvSpPr>
          <p:cNvPr id="19" name="Text 16"/>
          <p:cNvSpPr/>
          <p:nvPr/>
        </p:nvSpPr>
        <p:spPr>
          <a:xfrm>
            <a:off x="6309360" y="4892040"/>
            <a:ext cx="5212080" cy="777240"/>
          </a:xfrm>
          <a:prstGeom prst="rect">
            <a:avLst/>
          </a:prstGeom>
          <a:noFill/>
          <a:ln/>
        </p:spPr>
        <p:txBody>
          <a:bodyPr wrap="square" lIns="0" tIns="0" rIns="0" bIns="0" rtlCol="0" anchor="ctr"/>
          <a:lstStyle/>
          <a:p>
            <a:pPr marL="0" indent="0">
              <a:lnSpc>
                <a:spcPts val="2000"/>
              </a:lnSpc>
              <a:buNone/>
            </a:pPr>
            <a:r>
              <a:rPr lang="en-US" sz="1500" b="1" dirty="0">
                <a:solidFill>
                  <a:srgbClr val="1C2B52"/>
                </a:solidFill>
                <a:latin typeface="Cambria" pitchFamily="34" charset="0"/>
                <a:ea typeface="Cambria" pitchFamily="34" charset="-122"/>
                <a:cs typeface="Cambria" pitchFamily="34" charset="-120"/>
              </a:rPr>
              <a:t>Either outcome is a result: agents shown unnecessary, or shown to recover a measured residual.</a:t>
            </a:r>
            <a:endParaRPr lang="en-US" sz="1500" dirty="0"/>
          </a:p>
        </p:txBody>
      </p:sp>
      <p:sp>
        <p:nvSpPr>
          <p:cNvPr id="20" name="Text 17"/>
          <p:cNvSpPr/>
          <p:nvPr/>
        </p:nvSpPr>
        <p:spPr>
          <a:xfrm>
            <a:off x="640080" y="635508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E6 status: optional, not started. Activation gate recorded in configs/experiment_matrix.yaml.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378</TotalTime>
  <Words>2208</Words>
  <Application>Microsoft Office PowerPoint</Application>
  <PresentationFormat>Widescreen</PresentationFormat>
  <Paragraphs>260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Citation-grounded QA over EU aviation regulations</dc:title>
  <dc:subject>PptxGenJS Presentation</dc:subject>
  <dc:creator>Mahamat Saleh Samir Adam</dc:creator>
  <cp:lastModifiedBy>Samir Adam MAHAMAT SALEH</cp:lastModifiedBy>
  <cp:revision>1</cp:revision>
  <dcterms:created xsi:type="dcterms:W3CDTF">2026-07-30T23:31:37Z</dcterms:created>
  <dcterms:modified xsi:type="dcterms:W3CDTF">2026-07-31T14:00:17Z</dcterms:modified>
</cp:coreProperties>
</file>